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c3fbe7d-2396-4bbb-41f2-a164b029fd20}">
          <p14:sldIdLst>
            <p14:sldId id="256"/>
            <p14:sldId id="257"/>
          </p14:sldIdLst>
        </p14:section>
        <p14:section name="Company &amp; strategy" id="{3b86740e-a4aa-8f3c-d203-806df3482c43}">
          <p14:sldIdLst>
            <p14:sldId id="258"/>
            <p14:sldId id="259"/>
          </p14:sldIdLst>
        </p14:section>
        <p14:section name="Going global" id="{fa77cb69-4eb4-3d10-b86a-6d37ad6e7827}">
          <p14:sldIdLst>
            <p14:sldId id="260"/>
          </p14:sldIdLst>
        </p14:section>
        <p14:section name="Two markets" id="{c48ff159-0275-1e80-8873-d0daffff2a16}">
          <p14:sldIdLst>
            <p14:sldId id="261"/>
            <p14:sldId id="262"/>
            <p14:sldId id="263"/>
            <p14:sldId id="264"/>
          </p14:sldIdLst>
        </p14:section>
        <p14:section name="Supply chain" id="{e71d5505-49ac-8205-88dc-cced78fd4ed0}">
          <p14:sldIdLst>
            <p14:sldId id="265"/>
            <p14:sldId id="266"/>
          </p14:sldIdLst>
        </p14:section>
        <p14:section name="Business model" id="{cc19d575-4a82-608f-9a03-56ceee922f05}">
          <p14:sldIdLst>
            <p14:sldId id="267"/>
            <p14:sldId id="268"/>
            <p14:sldId id="269"/>
          </p14:sldIdLst>
        </p14:section>
        <p14:section name="Conclusion" id="{74677403-1ad2-0d7b-89ae-c2d88e7457b0}">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topic: McDonald's as a global business, compared across France and Saudi Arabia, with a focus on the supply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seven sections of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McDonald's started as a single drive-in run by two brothers. Its Speedee Service System turned food preparation into an assembly line. Ray Kroc saw the potential to replicate that system, and franchising became the engine of growth. Today most restaurants are owned and run by local franchisees, while McDonald's provides the brand, the system and often the property. That model explains how McDonald's entered France and Saudi Arabia in different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feed and foster communities. Mission: making delicious feel-good moments easy for everyone. Competitive strategy: integrated cost leadership and differentiation. International strategy: transnational, balancing global integration with local responsiveness.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McDonald's does not use one entry mode everywhere. In mature, high-income markets like France it keeps tight control through conventional franchising and owning property. Where local knowledge, regulation or capital matter more, such as Saudi Arabia, it licenses the whole market to local partners. This lowers McDonald's risk and investment while still collecting royalties.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France: first official restaurant in Strasbourg in 1979. An earlier franchise opened in Créteil in 1972 under Raymond Dayan and was ended in 1982. Saudi Arabia: franchise rights granted to two Saudi companies in 1992; first restaurant opened in Riyadh in December 1993. Verify current restaurant counts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France needed McDonald's to respect French food culture. The McBaguette, launched in 2012, uses baguette-style bread and French cheese. Local sourcing from French farms supports quality and reputation.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Saudi Arabia, adaptation starts with compliance: every meat product must be halal-certified, and suppliers are audited. McDonald's works through local licensed partners who understand the market and its regulations.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Saudi rules on gender-separated seating and closing during prayer times have been relaxed since 2019. Check the current rules and mention the change as an example of adapting to a shifting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Competitive priorities: affordable, fast, consistent quality. A hybrid supply chain: efficient upstream, responsive downstream. Push upstream from forecasts; pull in the restaurant when the customer orders. This fits the McDonald's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McDonald's does not own its suppliers. It relies on long-term partnerships, Ray Kroc's three-legged stool of franchisees, suppliers and the company. Upstream, both countries push from forecasts; downstream, restaurants pull when a customer orders. France draws on a large farming base, so the focus is quality and traceability. Saudi Arabia must guarantee halal compliance and manage imports, so the focus is certification, cold chain and developing local suppliers. Check the French sourcing percentage in McDonald's France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McDonald's is often described as a real-estate company that sells burgers. Rent from owned property gives stable income even when food sales dip. In France it earns rent, royalties and fees; in Saudi Arabia the licensee funds the restaurants, so McDonald's earns mainly royalties with lower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France needed McDonald's to prove it respects French food culture, so marketing stresses farmers and ingredients. In Saudi Arabia the message centres on families, value and religious and cultural occasions.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the same everywhere; what changes is the local rules it has to follow. France's anti-waste law requires reusable tableware for dine-in. Saudi Arabia's Saudization rules set local hiring quotas.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McDonald's success abroad comes from balancing global integration with local responsiveness, the transnational strategy from earlier. France and Saudi Arabia show that balance in two very different settings. The brand stays the same; ownership, menu and sourcing change to fit each market.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references in the course's required style (e.g. Harvard or APA) after checking each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MAGE">
    <p:bg>
      <p:bgPr>
        <a:solidFill>
          <a:srgbClr val="5B120C"/>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5B120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000" b="1" dirty="0">
                <a:solidFill>
                  <a:schemeClr val="accent1"/>
                </a:solidFill>
              </a:defRPr>
            </a:lvl1pPr>
          </a:lstStyle>
          <a:p>
            <a:pPr indent="0" marL="0">
              <a:buNone/>
            </a:pPr>
            <a:endParaRPr lang="en-US" sz="30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bg2"/>
                </a:solidFill>
              </a:rPr>
              <a:t>McDonald's  |  France vs Saudi Arabia</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riginal slide" descr="/tmp/claude-0/-home-user-Odeam/2d716dfa-dede-5887-a88c-08b62616e64c/scratchpad/src/p-01.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Original slide" descr="/tmp/claude-0/-home-user-Odeam/2d716dfa-dede-5887-a88c-08b62616e64c/scratchpad/src/p-02.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accent1"/>
                </a:solidFill>
              </a:rPr>
              <a:t>Meet the Golden Arches</a:t>
            </a:r>
            <a:endParaRPr lang="en-US" sz="3000" dirty="0"/>
          </a:p>
        </p:txBody>
      </p:sp>
      <p:sp>
        <p:nvSpPr>
          <p:cNvPr id="3" name="Stat card"/>
          <p:cNvSpPr/>
          <p:nvPr/>
        </p:nvSpPr>
        <p:spPr>
          <a:xfrm>
            <a:off x="457200" y="1097280"/>
            <a:ext cx="2926080" cy="960120"/>
          </a:xfrm>
          <a:prstGeom prst="roundRect">
            <a:avLst>
              <a:gd name="adj" fmla="val 11429"/>
            </a:avLst>
          </a:prstGeom>
          <a:solidFill>
            <a:schemeClr val="tx2"/>
          </a:solidFill>
          <a:ln w="12700">
            <a:solidFill>
              <a:schemeClr val="tx2"/>
            </a:solidFill>
            <a:prstDash val="solid"/>
          </a:ln>
        </p:spPr>
      </p:sp>
      <p:sp>
        <p:nvSpPr>
          <p:cNvPr id="4" name="Text 2"/>
          <p:cNvSpPr txBox="1"/>
          <p:nvPr/>
        </p:nvSpPr>
        <p:spPr>
          <a:xfrm>
            <a:off x="640080" y="1170432"/>
            <a:ext cx="256032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40,000+</a:t>
            </a:r>
            <a:endParaRPr lang="en-US" sz="3200" dirty="0"/>
          </a:p>
        </p:txBody>
      </p:sp>
      <p:sp>
        <p:nvSpPr>
          <p:cNvPr id="5" name="Text 3"/>
          <p:cNvSpPr txBox="1"/>
          <p:nvPr/>
        </p:nvSpPr>
        <p:spPr>
          <a:xfrm>
            <a:off x="640080" y="1700784"/>
            <a:ext cx="2560320" cy="274320"/>
          </a:xfrm>
          <a:prstGeom prst="rect">
            <a:avLst/>
          </a:prstGeom>
          <a:noFill/>
          <a:ln/>
        </p:spPr>
        <p:txBody>
          <a:bodyPr wrap="square" lIns="0" tIns="0" rIns="0" bIns="0" rtlCol="0" anchor="ctr"/>
          <a:lstStyle/>
          <a:p>
            <a:pPr indent="0" marL="0">
              <a:buNone/>
            </a:pPr>
            <a:r>
              <a:rPr lang="en-US" sz="1400" dirty="0">
                <a:solidFill>
                  <a:schemeClr val="bg2"/>
                </a:solidFill>
              </a:rPr>
              <a:t>restaurants worldwide</a:t>
            </a:r>
            <a:endParaRPr lang="en-US" sz="1400" dirty="0"/>
          </a:p>
        </p:txBody>
      </p:sp>
      <p:sp>
        <p:nvSpPr>
          <p:cNvPr id="6" name="Stat card"/>
          <p:cNvSpPr/>
          <p:nvPr/>
        </p:nvSpPr>
        <p:spPr>
          <a:xfrm>
            <a:off x="457200" y="2240280"/>
            <a:ext cx="2926080" cy="960120"/>
          </a:xfrm>
          <a:prstGeom prst="roundRect">
            <a:avLst>
              <a:gd name="adj" fmla="val 11429"/>
            </a:avLst>
          </a:prstGeom>
          <a:solidFill>
            <a:schemeClr val="tx2"/>
          </a:solidFill>
          <a:ln w="12700">
            <a:solidFill>
              <a:schemeClr val="tx2"/>
            </a:solidFill>
            <a:prstDash val="solid"/>
          </a:ln>
        </p:spPr>
      </p:sp>
      <p:sp>
        <p:nvSpPr>
          <p:cNvPr id="7" name="Text 5"/>
          <p:cNvSpPr txBox="1"/>
          <p:nvPr/>
        </p:nvSpPr>
        <p:spPr>
          <a:xfrm>
            <a:off x="640080" y="2313432"/>
            <a:ext cx="256032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100+</a:t>
            </a:r>
            <a:endParaRPr lang="en-US" sz="3200" dirty="0"/>
          </a:p>
        </p:txBody>
      </p:sp>
      <p:sp>
        <p:nvSpPr>
          <p:cNvPr id="8" name="Text 6"/>
          <p:cNvSpPr txBox="1"/>
          <p:nvPr/>
        </p:nvSpPr>
        <p:spPr>
          <a:xfrm>
            <a:off x="640080" y="2843784"/>
            <a:ext cx="2560320" cy="274320"/>
          </a:xfrm>
          <a:prstGeom prst="rect">
            <a:avLst/>
          </a:prstGeom>
          <a:noFill/>
          <a:ln/>
        </p:spPr>
        <p:txBody>
          <a:bodyPr wrap="square" lIns="0" tIns="0" rIns="0" bIns="0" rtlCol="0" anchor="ctr"/>
          <a:lstStyle/>
          <a:p>
            <a:pPr indent="0" marL="0">
              <a:buNone/>
            </a:pPr>
            <a:r>
              <a:rPr lang="en-US" sz="1400" dirty="0">
                <a:solidFill>
                  <a:schemeClr val="bg2"/>
                </a:solidFill>
              </a:rPr>
              <a:t>countries</a:t>
            </a:r>
            <a:endParaRPr lang="en-US" sz="1400" dirty="0"/>
          </a:p>
        </p:txBody>
      </p:sp>
      <p:sp>
        <p:nvSpPr>
          <p:cNvPr id="9" name="Stat card"/>
          <p:cNvSpPr/>
          <p:nvPr/>
        </p:nvSpPr>
        <p:spPr>
          <a:xfrm>
            <a:off x="457200" y="3383280"/>
            <a:ext cx="2926080" cy="960120"/>
          </a:xfrm>
          <a:prstGeom prst="roundRect">
            <a:avLst>
              <a:gd name="adj" fmla="val 11429"/>
            </a:avLst>
          </a:prstGeom>
          <a:solidFill>
            <a:schemeClr val="tx2"/>
          </a:solidFill>
          <a:ln w="12700">
            <a:solidFill>
              <a:schemeClr val="tx2"/>
            </a:solidFill>
            <a:prstDash val="solid"/>
          </a:ln>
        </p:spPr>
      </p:sp>
      <p:sp>
        <p:nvSpPr>
          <p:cNvPr id="10" name="Text 8"/>
          <p:cNvSpPr txBox="1"/>
          <p:nvPr/>
        </p:nvSpPr>
        <p:spPr>
          <a:xfrm>
            <a:off x="640080" y="3456432"/>
            <a:ext cx="2560320"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~95%</a:t>
            </a:r>
            <a:endParaRPr lang="en-US" sz="3200" dirty="0"/>
          </a:p>
        </p:txBody>
      </p:sp>
      <p:sp>
        <p:nvSpPr>
          <p:cNvPr id="11" name="Text 9"/>
          <p:cNvSpPr txBox="1"/>
          <p:nvPr/>
        </p:nvSpPr>
        <p:spPr>
          <a:xfrm>
            <a:off x="640080" y="3986784"/>
            <a:ext cx="2560320" cy="274320"/>
          </a:xfrm>
          <a:prstGeom prst="rect">
            <a:avLst/>
          </a:prstGeom>
          <a:noFill/>
          <a:ln/>
        </p:spPr>
        <p:txBody>
          <a:bodyPr wrap="square" lIns="0" tIns="0" rIns="0" bIns="0" rtlCol="0" anchor="ctr"/>
          <a:lstStyle/>
          <a:p>
            <a:pPr indent="0" marL="0">
              <a:buNone/>
            </a:pPr>
            <a:r>
              <a:rPr lang="en-US" sz="1400" dirty="0">
                <a:solidFill>
                  <a:schemeClr val="bg2"/>
                </a:solidFill>
              </a:rPr>
              <a:t>run by franchisees</a:t>
            </a:r>
            <a:endParaRPr lang="en-US" sz="1400" dirty="0"/>
          </a:p>
        </p:txBody>
      </p:sp>
      <p:sp>
        <p:nvSpPr>
          <p:cNvPr id="12" name="Text 10"/>
          <p:cNvSpPr txBox="1"/>
          <p:nvPr/>
        </p:nvSpPr>
        <p:spPr>
          <a:xfrm>
            <a:off x="3749040" y="1097280"/>
            <a:ext cx="4937760" cy="603504"/>
          </a:xfrm>
          <a:prstGeom prst="rect">
            <a:avLst/>
          </a:prstGeom>
          <a:noFill/>
          <a:ln/>
        </p:spPr>
        <p:txBody>
          <a:bodyPr wrap="square" lIns="0" tIns="0" rIns="0" bIns="0" rtlCol="0" anchor="t"/>
          <a:lstStyle/>
          <a:p>
            <a:pPr indent="0" marL="0">
              <a:buNone/>
            </a:pPr>
            <a:r>
              <a:rPr lang="en-US" sz="1400" b="1" dirty="0">
                <a:solidFill>
                  <a:schemeClr val="accent1"/>
                </a:solidFill>
              </a:rPr>
              <a:t>Founded</a:t>
            </a:r>
            <a:endParaRPr lang="en-US" sz="1400" dirty="0"/>
          </a:p>
          <a:p>
            <a:pPr indent="0" marL="0">
              <a:buNone/>
            </a:pPr>
            <a:r>
              <a:rPr lang="en-US" sz="1400" dirty="0">
                <a:solidFill>
                  <a:schemeClr val="bg1"/>
                </a:solidFill>
              </a:rPr>
              <a:t>1940: Richard and Maurice McDonald, San Bernardino</a:t>
            </a:r>
            <a:endParaRPr lang="en-US" sz="1400" dirty="0"/>
          </a:p>
        </p:txBody>
      </p:sp>
      <p:sp>
        <p:nvSpPr>
          <p:cNvPr id="13" name="Text 11"/>
          <p:cNvSpPr txBox="1"/>
          <p:nvPr/>
        </p:nvSpPr>
        <p:spPr>
          <a:xfrm>
            <a:off x="3749040" y="1755648"/>
            <a:ext cx="4937760" cy="603504"/>
          </a:xfrm>
          <a:prstGeom prst="rect">
            <a:avLst/>
          </a:prstGeom>
          <a:noFill/>
          <a:ln/>
        </p:spPr>
        <p:txBody>
          <a:bodyPr wrap="square" lIns="0" tIns="0" rIns="0" bIns="0" rtlCol="0" anchor="t"/>
          <a:lstStyle/>
          <a:p>
            <a:pPr indent="0" marL="0">
              <a:buNone/>
            </a:pPr>
            <a:r>
              <a:rPr lang="en-US" sz="1400" b="1" dirty="0">
                <a:solidFill>
                  <a:schemeClr val="accent1"/>
                </a:solidFill>
              </a:rPr>
              <a:t>Franchising</a:t>
            </a:r>
            <a:endParaRPr lang="en-US" sz="1400" dirty="0"/>
          </a:p>
          <a:p>
            <a:pPr indent="0" marL="0">
              <a:buNone/>
            </a:pPr>
            <a:r>
              <a:rPr lang="en-US" sz="1400" dirty="0">
                <a:solidFill>
                  <a:schemeClr val="bg1"/>
                </a:solidFill>
              </a:rPr>
              <a:t>1955: Ray Kroc's first franchise, Des Plaines, Illinois</a:t>
            </a:r>
            <a:endParaRPr lang="en-US" sz="1400" dirty="0"/>
          </a:p>
        </p:txBody>
      </p:sp>
      <p:sp>
        <p:nvSpPr>
          <p:cNvPr id="14" name="Text 12"/>
          <p:cNvSpPr txBox="1"/>
          <p:nvPr/>
        </p:nvSpPr>
        <p:spPr>
          <a:xfrm>
            <a:off x="3749040" y="2414016"/>
            <a:ext cx="4937760" cy="603504"/>
          </a:xfrm>
          <a:prstGeom prst="rect">
            <a:avLst/>
          </a:prstGeom>
          <a:noFill/>
          <a:ln/>
        </p:spPr>
        <p:txBody>
          <a:bodyPr wrap="square" lIns="0" tIns="0" rIns="0" bIns="0" rtlCol="0" anchor="t"/>
          <a:lstStyle/>
          <a:p>
            <a:pPr indent="0" marL="0">
              <a:buNone/>
            </a:pPr>
            <a:r>
              <a:rPr lang="en-US" sz="1400" b="1" dirty="0">
                <a:solidFill>
                  <a:schemeClr val="accent1"/>
                </a:solidFill>
              </a:rPr>
              <a:t>Headquarters</a:t>
            </a:r>
            <a:endParaRPr lang="en-US" sz="1400" dirty="0"/>
          </a:p>
          <a:p>
            <a:pPr indent="0" marL="0">
              <a:buNone/>
            </a:pPr>
            <a:r>
              <a:rPr lang="en-US" sz="1400" dirty="0">
                <a:solidFill>
                  <a:schemeClr val="bg1"/>
                </a:solidFill>
              </a:rPr>
              <a:t>Chicago, Illinois, USA</a:t>
            </a:r>
            <a:endParaRPr lang="en-US" sz="1400" dirty="0"/>
          </a:p>
        </p:txBody>
      </p:sp>
      <p:sp>
        <p:nvSpPr>
          <p:cNvPr id="15" name="Text 13"/>
          <p:cNvSpPr txBox="1"/>
          <p:nvPr/>
        </p:nvSpPr>
        <p:spPr>
          <a:xfrm>
            <a:off x="3749040" y="3072384"/>
            <a:ext cx="4937760" cy="603504"/>
          </a:xfrm>
          <a:prstGeom prst="rect">
            <a:avLst/>
          </a:prstGeom>
          <a:noFill/>
          <a:ln/>
        </p:spPr>
        <p:txBody>
          <a:bodyPr wrap="square" lIns="0" tIns="0" rIns="0" bIns="0" rtlCol="0" anchor="t"/>
          <a:lstStyle/>
          <a:p>
            <a:pPr indent="0" marL="0">
              <a:buNone/>
            </a:pPr>
            <a:r>
              <a:rPr lang="en-US" sz="1400" b="1" dirty="0">
                <a:solidFill>
                  <a:schemeClr val="accent1"/>
                </a:solidFill>
              </a:rPr>
              <a:t>Revenue</a:t>
            </a:r>
            <a:endParaRPr lang="en-US" sz="1400" dirty="0"/>
          </a:p>
          <a:p>
            <a:pPr indent="0" marL="0">
              <a:buNone/>
            </a:pPr>
            <a:r>
              <a:rPr lang="en-US" sz="1400" dirty="0">
                <a:solidFill>
                  <a:schemeClr val="bg1"/>
                </a:solidFill>
              </a:rPr>
              <a:t>About US$26 billion (2024)</a:t>
            </a:r>
            <a:endParaRPr lang="en-US" sz="1400" dirty="0"/>
          </a:p>
        </p:txBody>
      </p:sp>
      <p:sp>
        <p:nvSpPr>
          <p:cNvPr id="16" name="Text 14"/>
          <p:cNvSpPr txBox="1"/>
          <p:nvPr/>
        </p:nvSpPr>
        <p:spPr>
          <a:xfrm>
            <a:off x="3749040" y="3730752"/>
            <a:ext cx="4937760" cy="603504"/>
          </a:xfrm>
          <a:prstGeom prst="rect">
            <a:avLst/>
          </a:prstGeom>
          <a:noFill/>
          <a:ln/>
        </p:spPr>
        <p:txBody>
          <a:bodyPr wrap="square" lIns="0" tIns="0" rIns="0" bIns="0" rtlCol="0" anchor="t"/>
          <a:lstStyle/>
          <a:p>
            <a:pPr indent="0" marL="0">
              <a:buNone/>
            </a:pPr>
            <a:r>
              <a:rPr lang="en-US" sz="1400" b="1" dirty="0">
                <a:solidFill>
                  <a:schemeClr val="accent1"/>
                </a:solidFill>
              </a:rPr>
              <a:t>Business type</a:t>
            </a:r>
            <a:endParaRPr lang="en-US" sz="1400" dirty="0"/>
          </a:p>
          <a:p>
            <a:pPr indent="0" marL="0">
              <a:buNone/>
            </a:pPr>
            <a:r>
              <a:rPr lang="en-US" sz="1400" dirty="0">
                <a:solidFill>
                  <a:schemeClr val="bg1"/>
                </a:solidFill>
              </a:rPr>
              <a:t>Quick-service restaurants and real-estate owner</a:t>
            </a:r>
            <a:endParaRPr lang="en-US" sz="1400" dirty="0"/>
          </a:p>
        </p:txBody>
      </p:sp>
      <p:sp>
        <p:nvSpPr>
          <p:cNvPr id="17" name="Text 15"/>
          <p:cNvSpPr txBox="1"/>
          <p:nvPr/>
        </p:nvSpPr>
        <p:spPr>
          <a:xfrm>
            <a:off x="3749040" y="4434840"/>
            <a:ext cx="4937760" cy="228600"/>
          </a:xfrm>
          <a:prstGeom prst="rect">
            <a:avLst/>
          </a:prstGeom>
          <a:noFill/>
          <a:ln/>
        </p:spPr>
        <p:txBody>
          <a:bodyPr wrap="square" lIns="0" tIns="0" rIns="0" bIns="0" rtlCol="0" anchor="ctr"/>
          <a:lstStyle/>
          <a:p>
            <a:pPr indent="0" marL="0">
              <a:buNone/>
            </a:pPr>
            <a:r>
              <a:rPr lang="en-US" sz="1000" i="1" dirty="0">
                <a:solidFill>
                  <a:schemeClr val="accent2"/>
                </a:solidFill>
              </a:rPr>
              <a:t>Figures approximate: check against the latest McDonald's Annual Report.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Original slide" descr="/tmp/claude-0/-home-user-Odeam/2d716dfa-dede-5887-a88c-08b62616e64c/scratchpad/src/p-04.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accent1"/>
                </a:solidFill>
              </a:rPr>
              <a:t>Going Global, Growing Big</a:t>
            </a:r>
            <a:endParaRPr lang="en-US" sz="3000" dirty="0"/>
          </a:p>
        </p:txBody>
      </p:sp>
      <p:sp>
        <p:nvSpPr>
          <p:cNvPr id="3" name="Timeline"/>
          <p:cNvSpPr/>
          <p:nvPr/>
        </p:nvSpPr>
        <p:spPr>
          <a:xfrm>
            <a:off x="1188720" y="1298448"/>
            <a:ext cx="6766560" cy="0"/>
          </a:xfrm>
          <a:prstGeom prst="line">
            <a:avLst/>
          </a:prstGeom>
          <a:noFill/>
          <a:ln w="25400">
            <a:solidFill>
              <a:schemeClr val="accent2"/>
            </a:solidFill>
            <a:prstDash val="solid"/>
          </a:ln>
        </p:spPr>
      </p:sp>
      <p:sp>
        <p:nvSpPr>
          <p:cNvPr id="4" name="Milestone"/>
          <p:cNvSpPr/>
          <p:nvPr/>
        </p:nvSpPr>
        <p:spPr>
          <a:xfrm>
            <a:off x="1088136" y="1197864"/>
            <a:ext cx="201168" cy="201168"/>
          </a:xfrm>
          <a:prstGeom prst="ellipse">
            <a:avLst/>
          </a:prstGeom>
          <a:solidFill>
            <a:schemeClr val="accent1"/>
          </a:solidFill>
          <a:ln w="12700">
            <a:solidFill>
              <a:schemeClr val="accent1"/>
            </a:solidFill>
            <a:prstDash val="solid"/>
          </a:ln>
        </p:spPr>
      </p:sp>
      <p:sp>
        <p:nvSpPr>
          <p:cNvPr id="5" name="Text 3"/>
          <p:cNvSpPr txBox="1"/>
          <p:nvPr/>
        </p:nvSpPr>
        <p:spPr>
          <a:xfrm>
            <a:off x="365760" y="914400"/>
            <a:ext cx="1645920" cy="256032"/>
          </a:xfrm>
          <a:prstGeom prst="rect">
            <a:avLst/>
          </a:prstGeom>
          <a:noFill/>
          <a:ln/>
        </p:spPr>
        <p:txBody>
          <a:bodyPr wrap="square" lIns="0" tIns="0" rIns="0" bIns="0" rtlCol="0" anchor="ctr"/>
          <a:lstStyle/>
          <a:p>
            <a:pPr algn="ctr" indent="0" marL="0">
              <a:buNone/>
            </a:pPr>
            <a:r>
              <a:rPr lang="en-US" sz="1400" b="1" dirty="0">
                <a:solidFill>
                  <a:schemeClr val="accent1"/>
                </a:solidFill>
              </a:rPr>
              <a:t>1967</a:t>
            </a:r>
            <a:endParaRPr lang="en-US" sz="1400" dirty="0"/>
          </a:p>
        </p:txBody>
      </p:sp>
      <p:sp>
        <p:nvSpPr>
          <p:cNvPr id="6" name="Text 4"/>
          <p:cNvSpPr txBox="1"/>
          <p:nvPr/>
        </p:nvSpPr>
        <p:spPr>
          <a:xfrm>
            <a:off x="411480" y="1463040"/>
            <a:ext cx="1554480" cy="457200"/>
          </a:xfrm>
          <a:prstGeom prst="rect">
            <a:avLst/>
          </a:prstGeom>
          <a:noFill/>
          <a:ln/>
        </p:spPr>
        <p:txBody>
          <a:bodyPr wrap="square" lIns="0" tIns="0" rIns="0" bIns="0" rtlCol="0" anchor="t"/>
          <a:lstStyle/>
          <a:p>
            <a:pPr algn="ctr" indent="0" marL="0">
              <a:buNone/>
            </a:pPr>
            <a:r>
              <a:rPr lang="en-US" sz="1200" dirty="0">
                <a:solidFill>
                  <a:schemeClr val="bg1"/>
                </a:solidFill>
              </a:rPr>
              <a:t>Canada and Puerto Rico</a:t>
            </a:r>
            <a:endParaRPr lang="en-US" sz="1200" dirty="0"/>
          </a:p>
        </p:txBody>
      </p:sp>
      <p:sp>
        <p:nvSpPr>
          <p:cNvPr id="7" name="Milestone"/>
          <p:cNvSpPr/>
          <p:nvPr/>
        </p:nvSpPr>
        <p:spPr>
          <a:xfrm>
            <a:off x="2779776" y="1197864"/>
            <a:ext cx="201168" cy="201168"/>
          </a:xfrm>
          <a:prstGeom prst="ellipse">
            <a:avLst/>
          </a:prstGeom>
          <a:solidFill>
            <a:schemeClr val="accent1"/>
          </a:solidFill>
          <a:ln w="12700">
            <a:solidFill>
              <a:schemeClr val="accent1"/>
            </a:solidFill>
            <a:prstDash val="solid"/>
          </a:ln>
        </p:spPr>
      </p:sp>
      <p:sp>
        <p:nvSpPr>
          <p:cNvPr id="8" name="Text 6"/>
          <p:cNvSpPr txBox="1"/>
          <p:nvPr/>
        </p:nvSpPr>
        <p:spPr>
          <a:xfrm>
            <a:off x="2057400" y="914400"/>
            <a:ext cx="1645920" cy="256032"/>
          </a:xfrm>
          <a:prstGeom prst="rect">
            <a:avLst/>
          </a:prstGeom>
          <a:noFill/>
          <a:ln/>
        </p:spPr>
        <p:txBody>
          <a:bodyPr wrap="square" lIns="0" tIns="0" rIns="0" bIns="0" rtlCol="0" anchor="ctr"/>
          <a:lstStyle/>
          <a:p>
            <a:pPr algn="ctr" indent="0" marL="0">
              <a:buNone/>
            </a:pPr>
            <a:r>
              <a:rPr lang="en-US" sz="1400" b="1" dirty="0">
                <a:solidFill>
                  <a:schemeClr val="accent1"/>
                </a:solidFill>
              </a:rPr>
              <a:t>1971</a:t>
            </a:r>
            <a:endParaRPr lang="en-US" sz="1400" dirty="0"/>
          </a:p>
        </p:txBody>
      </p:sp>
      <p:sp>
        <p:nvSpPr>
          <p:cNvPr id="9" name="Text 7"/>
          <p:cNvSpPr txBox="1"/>
          <p:nvPr/>
        </p:nvSpPr>
        <p:spPr>
          <a:xfrm>
            <a:off x="2103120" y="1463040"/>
            <a:ext cx="1554480" cy="457200"/>
          </a:xfrm>
          <a:prstGeom prst="rect">
            <a:avLst/>
          </a:prstGeom>
          <a:noFill/>
          <a:ln/>
        </p:spPr>
        <p:txBody>
          <a:bodyPr wrap="square" lIns="0" tIns="0" rIns="0" bIns="0" rtlCol="0" anchor="t"/>
          <a:lstStyle/>
          <a:p>
            <a:pPr algn="ctr" indent="0" marL="0">
              <a:buNone/>
            </a:pPr>
            <a:r>
              <a:rPr lang="en-US" sz="1200" dirty="0">
                <a:solidFill>
                  <a:schemeClr val="bg1"/>
                </a:solidFill>
              </a:rPr>
              <a:t>Japan, Germany, Australia</a:t>
            </a:r>
            <a:endParaRPr lang="en-US" sz="1200" dirty="0"/>
          </a:p>
        </p:txBody>
      </p:sp>
      <p:sp>
        <p:nvSpPr>
          <p:cNvPr id="10" name="Milestone"/>
          <p:cNvSpPr/>
          <p:nvPr/>
        </p:nvSpPr>
        <p:spPr>
          <a:xfrm>
            <a:off x="4471416" y="1197864"/>
            <a:ext cx="201168" cy="201168"/>
          </a:xfrm>
          <a:prstGeom prst="ellipse">
            <a:avLst/>
          </a:prstGeom>
          <a:solidFill>
            <a:schemeClr val="accent1"/>
          </a:solidFill>
          <a:ln w="12700">
            <a:solidFill>
              <a:schemeClr val="accent1"/>
            </a:solidFill>
            <a:prstDash val="solid"/>
          </a:ln>
        </p:spPr>
      </p:sp>
      <p:sp>
        <p:nvSpPr>
          <p:cNvPr id="11" name="Text 9"/>
          <p:cNvSpPr txBox="1"/>
          <p:nvPr/>
        </p:nvSpPr>
        <p:spPr>
          <a:xfrm>
            <a:off x="3749040" y="914400"/>
            <a:ext cx="1645920" cy="256032"/>
          </a:xfrm>
          <a:prstGeom prst="rect">
            <a:avLst/>
          </a:prstGeom>
          <a:noFill/>
          <a:ln/>
        </p:spPr>
        <p:txBody>
          <a:bodyPr wrap="square" lIns="0" tIns="0" rIns="0" bIns="0" rtlCol="0" anchor="ctr"/>
          <a:lstStyle/>
          <a:p>
            <a:pPr algn="ctr" indent="0" marL="0">
              <a:buNone/>
            </a:pPr>
            <a:r>
              <a:rPr lang="en-US" sz="1400" b="1" dirty="0">
                <a:solidFill>
                  <a:schemeClr val="accent1"/>
                </a:solidFill>
              </a:rPr>
              <a:t>1972</a:t>
            </a:r>
            <a:endParaRPr lang="en-US" sz="1400" dirty="0"/>
          </a:p>
        </p:txBody>
      </p:sp>
      <p:sp>
        <p:nvSpPr>
          <p:cNvPr id="12" name="Text 10"/>
          <p:cNvSpPr txBox="1"/>
          <p:nvPr/>
        </p:nvSpPr>
        <p:spPr>
          <a:xfrm>
            <a:off x="3794760" y="1463040"/>
            <a:ext cx="1554480" cy="457200"/>
          </a:xfrm>
          <a:prstGeom prst="rect">
            <a:avLst/>
          </a:prstGeom>
          <a:noFill/>
          <a:ln/>
        </p:spPr>
        <p:txBody>
          <a:bodyPr wrap="square" lIns="0" tIns="0" rIns="0" bIns="0" rtlCol="0" anchor="t"/>
          <a:lstStyle/>
          <a:p>
            <a:pPr algn="ctr" indent="0" marL="0">
              <a:buNone/>
            </a:pPr>
            <a:r>
              <a:rPr lang="en-US" sz="1200" dirty="0">
                <a:solidFill>
                  <a:schemeClr val="bg1"/>
                </a:solidFill>
              </a:rPr>
              <a:t>France (Créteil)</a:t>
            </a:r>
            <a:endParaRPr lang="en-US" sz="1200" dirty="0"/>
          </a:p>
        </p:txBody>
      </p:sp>
      <p:sp>
        <p:nvSpPr>
          <p:cNvPr id="13" name="Milestone"/>
          <p:cNvSpPr/>
          <p:nvPr/>
        </p:nvSpPr>
        <p:spPr>
          <a:xfrm>
            <a:off x="6163056" y="1197864"/>
            <a:ext cx="201168" cy="201168"/>
          </a:xfrm>
          <a:prstGeom prst="ellipse">
            <a:avLst/>
          </a:prstGeom>
          <a:solidFill>
            <a:schemeClr val="accent1"/>
          </a:solidFill>
          <a:ln w="12700">
            <a:solidFill>
              <a:schemeClr val="accent1"/>
            </a:solidFill>
            <a:prstDash val="solid"/>
          </a:ln>
        </p:spPr>
      </p:sp>
      <p:sp>
        <p:nvSpPr>
          <p:cNvPr id="14" name="Text 12"/>
          <p:cNvSpPr txBox="1"/>
          <p:nvPr/>
        </p:nvSpPr>
        <p:spPr>
          <a:xfrm>
            <a:off x="5440680" y="914400"/>
            <a:ext cx="1645920" cy="256032"/>
          </a:xfrm>
          <a:prstGeom prst="rect">
            <a:avLst/>
          </a:prstGeom>
          <a:noFill/>
          <a:ln/>
        </p:spPr>
        <p:txBody>
          <a:bodyPr wrap="square" lIns="0" tIns="0" rIns="0" bIns="0" rtlCol="0" anchor="ctr"/>
          <a:lstStyle/>
          <a:p>
            <a:pPr algn="ctr" indent="0" marL="0">
              <a:buNone/>
            </a:pPr>
            <a:r>
              <a:rPr lang="en-US" sz="1400" b="1" dirty="0">
                <a:solidFill>
                  <a:schemeClr val="accent1"/>
                </a:solidFill>
              </a:rPr>
              <a:t>1990</a:t>
            </a:r>
            <a:endParaRPr lang="en-US" sz="1400" dirty="0"/>
          </a:p>
        </p:txBody>
      </p:sp>
      <p:sp>
        <p:nvSpPr>
          <p:cNvPr id="15" name="Text 13"/>
          <p:cNvSpPr txBox="1"/>
          <p:nvPr/>
        </p:nvSpPr>
        <p:spPr>
          <a:xfrm>
            <a:off x="5486400" y="1463040"/>
            <a:ext cx="1554480" cy="457200"/>
          </a:xfrm>
          <a:prstGeom prst="rect">
            <a:avLst/>
          </a:prstGeom>
          <a:noFill/>
          <a:ln/>
        </p:spPr>
        <p:txBody>
          <a:bodyPr wrap="square" lIns="0" tIns="0" rIns="0" bIns="0" rtlCol="0" anchor="t"/>
          <a:lstStyle/>
          <a:p>
            <a:pPr algn="ctr" indent="0" marL="0">
              <a:buNone/>
            </a:pPr>
            <a:r>
              <a:rPr lang="en-US" sz="1200" dirty="0">
                <a:solidFill>
                  <a:schemeClr val="bg1"/>
                </a:solidFill>
              </a:rPr>
              <a:t>Moscow and Shenzhen</a:t>
            </a:r>
            <a:endParaRPr lang="en-US" sz="1200" dirty="0"/>
          </a:p>
        </p:txBody>
      </p:sp>
      <p:sp>
        <p:nvSpPr>
          <p:cNvPr id="16" name="Milestone"/>
          <p:cNvSpPr/>
          <p:nvPr/>
        </p:nvSpPr>
        <p:spPr>
          <a:xfrm>
            <a:off x="7854696" y="1197864"/>
            <a:ext cx="201168" cy="201168"/>
          </a:xfrm>
          <a:prstGeom prst="ellipse">
            <a:avLst/>
          </a:prstGeom>
          <a:solidFill>
            <a:schemeClr val="accent1"/>
          </a:solidFill>
          <a:ln w="12700">
            <a:solidFill>
              <a:schemeClr val="accent1"/>
            </a:solidFill>
            <a:prstDash val="solid"/>
          </a:ln>
        </p:spPr>
      </p:sp>
      <p:sp>
        <p:nvSpPr>
          <p:cNvPr id="17" name="Text 15"/>
          <p:cNvSpPr txBox="1"/>
          <p:nvPr/>
        </p:nvSpPr>
        <p:spPr>
          <a:xfrm>
            <a:off x="7132320" y="914400"/>
            <a:ext cx="1645920" cy="256032"/>
          </a:xfrm>
          <a:prstGeom prst="rect">
            <a:avLst/>
          </a:prstGeom>
          <a:noFill/>
          <a:ln/>
        </p:spPr>
        <p:txBody>
          <a:bodyPr wrap="square" lIns="0" tIns="0" rIns="0" bIns="0" rtlCol="0" anchor="ctr"/>
          <a:lstStyle/>
          <a:p>
            <a:pPr algn="ctr" indent="0" marL="0">
              <a:buNone/>
            </a:pPr>
            <a:r>
              <a:rPr lang="en-US" sz="1400" b="1" dirty="0">
                <a:solidFill>
                  <a:schemeClr val="accent1"/>
                </a:solidFill>
              </a:rPr>
              <a:t>1993</a:t>
            </a:r>
            <a:endParaRPr lang="en-US" sz="1400" dirty="0"/>
          </a:p>
        </p:txBody>
      </p:sp>
      <p:sp>
        <p:nvSpPr>
          <p:cNvPr id="18" name="Text 16"/>
          <p:cNvSpPr txBox="1"/>
          <p:nvPr/>
        </p:nvSpPr>
        <p:spPr>
          <a:xfrm>
            <a:off x="7178040" y="1463040"/>
            <a:ext cx="1554480" cy="457200"/>
          </a:xfrm>
          <a:prstGeom prst="rect">
            <a:avLst/>
          </a:prstGeom>
          <a:noFill/>
          <a:ln/>
        </p:spPr>
        <p:txBody>
          <a:bodyPr wrap="square" lIns="0" tIns="0" rIns="0" bIns="0" rtlCol="0" anchor="t"/>
          <a:lstStyle/>
          <a:p>
            <a:pPr algn="ctr" indent="0" marL="0">
              <a:buNone/>
            </a:pPr>
            <a:r>
              <a:rPr lang="en-US" sz="1200" dirty="0">
                <a:solidFill>
                  <a:schemeClr val="bg1"/>
                </a:solidFill>
              </a:rPr>
              <a:t>Saudi Arabia (Riyadh)</a:t>
            </a:r>
            <a:endParaRPr lang="en-US" sz="1200" dirty="0"/>
          </a:p>
        </p:txBody>
      </p:sp>
      <p:sp>
        <p:nvSpPr>
          <p:cNvPr id="19" name="Entry mode card"/>
          <p:cNvSpPr/>
          <p:nvPr/>
        </p:nvSpPr>
        <p:spPr>
          <a:xfrm>
            <a:off x="457200" y="2103120"/>
            <a:ext cx="1920240" cy="2103120"/>
          </a:xfrm>
          <a:prstGeom prst="roundRect">
            <a:avLst>
              <a:gd name="adj" fmla="val 5714"/>
            </a:avLst>
          </a:prstGeom>
          <a:solidFill>
            <a:schemeClr val="tx2"/>
          </a:solidFill>
          <a:ln w="12700">
            <a:solidFill>
              <a:schemeClr val="tx2"/>
            </a:solidFill>
            <a:prstDash val="solid"/>
          </a:ln>
        </p:spPr>
      </p:sp>
      <p:sp>
        <p:nvSpPr>
          <p:cNvPr id="20" name="Icon circle"/>
          <p:cNvSpPr/>
          <p:nvPr/>
        </p:nvSpPr>
        <p:spPr>
          <a:xfrm>
            <a:off x="594360" y="2212848"/>
            <a:ext cx="411480" cy="411480"/>
          </a:xfrm>
          <a:prstGeom prst="ellipse">
            <a:avLst/>
          </a:prstGeom>
          <a:solidFill>
            <a:schemeClr val="accent1"/>
          </a:solidFill>
          <a:ln w="12700">
            <a:solidFill>
              <a:schemeClr val="accent1"/>
            </a:solidFill>
            <a:prstDash val="solid"/>
          </a:ln>
        </p:spPr>
      </p:sp>
      <p:pic>
        <p:nvPicPr>
          <p:cNvPr id="21" name="Icon" descr="preencoded.png">    </p:cNvPr>
          <p:cNvPicPr>
            <a:picLocks noChangeAspect="1"/>
          </p:cNvPicPr>
          <p:nvPr/>
        </p:nvPicPr>
        <p:blipFill>
          <a:blip r:embed="rId1"/>
          <a:stretch>
            <a:fillRect/>
          </a:stretch>
        </p:blipFill>
        <p:spPr>
          <a:xfrm>
            <a:off x="684886" y="2303374"/>
            <a:ext cx="230429" cy="230429"/>
          </a:xfrm>
          <a:prstGeom prst="rect">
            <a:avLst/>
          </a:prstGeom>
        </p:spPr>
      </p:pic>
      <p:sp>
        <p:nvSpPr>
          <p:cNvPr id="22" name="Text 19"/>
          <p:cNvSpPr txBox="1"/>
          <p:nvPr/>
        </p:nvSpPr>
        <p:spPr>
          <a:xfrm>
            <a:off x="594360" y="2670048"/>
            <a:ext cx="1691640" cy="411480"/>
          </a:xfrm>
          <a:prstGeom prst="rect">
            <a:avLst/>
          </a:prstGeom>
          <a:noFill/>
          <a:ln/>
        </p:spPr>
        <p:txBody>
          <a:bodyPr wrap="square" lIns="0" tIns="0" rIns="0" bIns="0" rtlCol="0" anchor="t"/>
          <a:lstStyle/>
          <a:p>
            <a:pPr indent="0" marL="0">
              <a:buNone/>
            </a:pPr>
            <a:r>
              <a:rPr lang="en-US" sz="1300" b="1" dirty="0">
                <a:solidFill>
                  <a:schemeClr val="accent1"/>
                </a:solidFill>
              </a:rPr>
              <a:t>Conventional franchising</a:t>
            </a:r>
            <a:endParaRPr lang="en-US" sz="1300" dirty="0"/>
          </a:p>
        </p:txBody>
      </p:sp>
      <p:sp>
        <p:nvSpPr>
          <p:cNvPr id="23" name="Text 20"/>
          <p:cNvSpPr txBox="1"/>
          <p:nvPr/>
        </p:nvSpPr>
        <p:spPr>
          <a:xfrm>
            <a:off x="594360" y="3090672"/>
            <a:ext cx="1691640" cy="685800"/>
          </a:xfrm>
          <a:prstGeom prst="rect">
            <a:avLst/>
          </a:prstGeom>
          <a:noFill/>
          <a:ln/>
        </p:spPr>
        <p:txBody>
          <a:bodyPr wrap="square" lIns="0" tIns="0" rIns="0" bIns="0" rtlCol="0" anchor="t"/>
          <a:lstStyle/>
          <a:p>
            <a:pPr indent="0" marL="0">
              <a:buNone/>
            </a:pPr>
            <a:r>
              <a:rPr lang="en-US" sz="1200" dirty="0">
                <a:solidFill>
                  <a:schemeClr val="bg1"/>
                </a:solidFill>
              </a:rPr>
              <a:t>Local owners run restaurants; McDonald's often owns the property</a:t>
            </a:r>
            <a:endParaRPr lang="en-US" sz="1200" dirty="0"/>
          </a:p>
        </p:txBody>
      </p:sp>
      <p:sp>
        <p:nvSpPr>
          <p:cNvPr id="24" name="Text 21"/>
          <p:cNvSpPr txBox="1"/>
          <p:nvPr/>
        </p:nvSpPr>
        <p:spPr>
          <a:xfrm>
            <a:off x="594360" y="3794760"/>
            <a:ext cx="1691640" cy="347472"/>
          </a:xfrm>
          <a:prstGeom prst="rect">
            <a:avLst/>
          </a:prstGeom>
          <a:noFill/>
          <a:ln/>
        </p:spPr>
        <p:txBody>
          <a:bodyPr wrap="square" lIns="0" tIns="0" rIns="0" bIns="0" rtlCol="0" anchor="t"/>
          <a:lstStyle/>
          <a:p>
            <a:pPr indent="0" marL="0">
              <a:buNone/>
            </a:pPr>
            <a:r>
              <a:rPr lang="en-US" sz="1000" i="1" dirty="0">
                <a:solidFill>
                  <a:schemeClr val="bg2"/>
                </a:solidFill>
              </a:rPr>
              <a:t>e.g. France, UK, USA</a:t>
            </a:r>
            <a:endParaRPr lang="en-US" sz="1000" dirty="0"/>
          </a:p>
        </p:txBody>
      </p:sp>
      <p:sp>
        <p:nvSpPr>
          <p:cNvPr id="25" name="Entry mode card"/>
          <p:cNvSpPr/>
          <p:nvPr/>
        </p:nvSpPr>
        <p:spPr>
          <a:xfrm>
            <a:off x="2560320" y="2103120"/>
            <a:ext cx="1920240" cy="2103120"/>
          </a:xfrm>
          <a:prstGeom prst="roundRect">
            <a:avLst>
              <a:gd name="adj" fmla="val 5714"/>
            </a:avLst>
          </a:prstGeom>
          <a:solidFill>
            <a:schemeClr val="tx2"/>
          </a:solidFill>
          <a:ln w="12700">
            <a:solidFill>
              <a:schemeClr val="tx2"/>
            </a:solidFill>
            <a:prstDash val="solid"/>
          </a:ln>
        </p:spPr>
      </p:sp>
      <p:sp>
        <p:nvSpPr>
          <p:cNvPr id="26" name="Icon circle"/>
          <p:cNvSpPr/>
          <p:nvPr/>
        </p:nvSpPr>
        <p:spPr>
          <a:xfrm>
            <a:off x="2697480" y="2212848"/>
            <a:ext cx="411480" cy="411480"/>
          </a:xfrm>
          <a:prstGeom prst="ellipse">
            <a:avLst/>
          </a:prstGeom>
          <a:solidFill>
            <a:schemeClr val="accent1"/>
          </a:solidFill>
          <a:ln w="12700">
            <a:solidFill>
              <a:schemeClr val="accent1"/>
            </a:solidFill>
            <a:prstDash val="solid"/>
          </a:ln>
        </p:spPr>
      </p:sp>
      <p:pic>
        <p:nvPicPr>
          <p:cNvPr id="27" name="Icon" descr="preencoded.png">    </p:cNvPr>
          <p:cNvPicPr>
            <a:picLocks noChangeAspect="1"/>
          </p:cNvPicPr>
          <p:nvPr/>
        </p:nvPicPr>
        <p:blipFill>
          <a:blip r:embed="rId2"/>
          <a:stretch>
            <a:fillRect/>
          </a:stretch>
        </p:blipFill>
        <p:spPr>
          <a:xfrm>
            <a:off x="2788006" y="2303374"/>
            <a:ext cx="230429" cy="230429"/>
          </a:xfrm>
          <a:prstGeom prst="rect">
            <a:avLst/>
          </a:prstGeom>
        </p:spPr>
      </p:pic>
      <p:sp>
        <p:nvSpPr>
          <p:cNvPr id="28" name="Text 24"/>
          <p:cNvSpPr txBox="1"/>
          <p:nvPr/>
        </p:nvSpPr>
        <p:spPr>
          <a:xfrm>
            <a:off x="2697480" y="2670048"/>
            <a:ext cx="1691640" cy="411480"/>
          </a:xfrm>
          <a:prstGeom prst="rect">
            <a:avLst/>
          </a:prstGeom>
          <a:noFill/>
          <a:ln/>
        </p:spPr>
        <p:txBody>
          <a:bodyPr wrap="square" lIns="0" tIns="0" rIns="0" bIns="0" rtlCol="0" anchor="t"/>
          <a:lstStyle/>
          <a:p>
            <a:pPr indent="0" marL="0">
              <a:buNone/>
            </a:pPr>
            <a:r>
              <a:rPr lang="en-US" sz="1300" b="1" dirty="0">
                <a:solidFill>
                  <a:schemeClr val="accent1"/>
                </a:solidFill>
              </a:rPr>
              <a:t>Developmental licensing</a:t>
            </a:r>
            <a:endParaRPr lang="en-US" sz="1300" dirty="0"/>
          </a:p>
        </p:txBody>
      </p:sp>
      <p:sp>
        <p:nvSpPr>
          <p:cNvPr id="29" name="Text 25"/>
          <p:cNvSpPr txBox="1"/>
          <p:nvPr/>
        </p:nvSpPr>
        <p:spPr>
          <a:xfrm>
            <a:off x="2697480" y="3090672"/>
            <a:ext cx="1691640" cy="685800"/>
          </a:xfrm>
          <a:prstGeom prst="rect">
            <a:avLst/>
          </a:prstGeom>
          <a:noFill/>
          <a:ln/>
        </p:spPr>
        <p:txBody>
          <a:bodyPr wrap="square" lIns="0" tIns="0" rIns="0" bIns="0" rtlCol="0" anchor="t"/>
          <a:lstStyle/>
          <a:p>
            <a:pPr indent="0" marL="0">
              <a:buNone/>
            </a:pPr>
            <a:r>
              <a:rPr lang="en-US" sz="1200" dirty="0">
                <a:solidFill>
                  <a:schemeClr val="bg1"/>
                </a:solidFill>
              </a:rPr>
              <a:t>One local partner gets rights for a country or region and funds growth</a:t>
            </a:r>
            <a:endParaRPr lang="en-US" sz="1200" dirty="0"/>
          </a:p>
        </p:txBody>
      </p:sp>
      <p:sp>
        <p:nvSpPr>
          <p:cNvPr id="30" name="Text 26"/>
          <p:cNvSpPr txBox="1"/>
          <p:nvPr/>
        </p:nvSpPr>
        <p:spPr>
          <a:xfrm>
            <a:off x="2697480" y="3794760"/>
            <a:ext cx="1691640" cy="347472"/>
          </a:xfrm>
          <a:prstGeom prst="rect">
            <a:avLst/>
          </a:prstGeom>
          <a:noFill/>
          <a:ln/>
        </p:spPr>
        <p:txBody>
          <a:bodyPr wrap="square" lIns="0" tIns="0" rIns="0" bIns="0" rtlCol="0" anchor="t"/>
          <a:lstStyle/>
          <a:p>
            <a:pPr indent="0" marL="0">
              <a:buNone/>
            </a:pPr>
            <a:r>
              <a:rPr lang="en-US" sz="1000" i="1" dirty="0">
                <a:solidFill>
                  <a:schemeClr val="bg2"/>
                </a:solidFill>
              </a:rPr>
              <a:t>e.g. Saudi Arabia, Middle East</a:t>
            </a:r>
            <a:endParaRPr lang="en-US" sz="1000" dirty="0"/>
          </a:p>
        </p:txBody>
      </p:sp>
      <p:sp>
        <p:nvSpPr>
          <p:cNvPr id="31" name="Entry mode card"/>
          <p:cNvSpPr/>
          <p:nvPr/>
        </p:nvSpPr>
        <p:spPr>
          <a:xfrm>
            <a:off x="4663440" y="2103120"/>
            <a:ext cx="1920240" cy="2103120"/>
          </a:xfrm>
          <a:prstGeom prst="roundRect">
            <a:avLst>
              <a:gd name="adj" fmla="val 5714"/>
            </a:avLst>
          </a:prstGeom>
          <a:solidFill>
            <a:schemeClr val="tx2"/>
          </a:solidFill>
          <a:ln w="12700">
            <a:solidFill>
              <a:schemeClr val="tx2"/>
            </a:solidFill>
            <a:prstDash val="solid"/>
          </a:ln>
        </p:spPr>
      </p:sp>
      <p:sp>
        <p:nvSpPr>
          <p:cNvPr id="32" name="Icon circle"/>
          <p:cNvSpPr/>
          <p:nvPr/>
        </p:nvSpPr>
        <p:spPr>
          <a:xfrm>
            <a:off x="4800600" y="2212848"/>
            <a:ext cx="411480" cy="411480"/>
          </a:xfrm>
          <a:prstGeom prst="ellipse">
            <a:avLst/>
          </a:prstGeom>
          <a:solidFill>
            <a:schemeClr val="accent1"/>
          </a:solidFill>
          <a:ln w="12700">
            <a:solidFill>
              <a:schemeClr val="accent1"/>
            </a:solidFill>
            <a:prstDash val="solid"/>
          </a:ln>
        </p:spPr>
      </p:sp>
      <p:pic>
        <p:nvPicPr>
          <p:cNvPr id="33" name="Icon" descr="preencoded.png">    </p:cNvPr>
          <p:cNvPicPr>
            <a:picLocks noChangeAspect="1"/>
          </p:cNvPicPr>
          <p:nvPr/>
        </p:nvPicPr>
        <p:blipFill>
          <a:blip r:embed="rId3"/>
          <a:stretch>
            <a:fillRect/>
          </a:stretch>
        </p:blipFill>
        <p:spPr>
          <a:xfrm>
            <a:off x="4891126" y="2303374"/>
            <a:ext cx="230429" cy="230429"/>
          </a:xfrm>
          <a:prstGeom prst="rect">
            <a:avLst/>
          </a:prstGeom>
        </p:spPr>
      </p:pic>
      <p:sp>
        <p:nvSpPr>
          <p:cNvPr id="34" name="Text 29"/>
          <p:cNvSpPr txBox="1"/>
          <p:nvPr/>
        </p:nvSpPr>
        <p:spPr>
          <a:xfrm>
            <a:off x="4800600" y="2670048"/>
            <a:ext cx="1691640" cy="411480"/>
          </a:xfrm>
          <a:prstGeom prst="rect">
            <a:avLst/>
          </a:prstGeom>
          <a:noFill/>
          <a:ln/>
        </p:spPr>
        <p:txBody>
          <a:bodyPr wrap="square" lIns="0" tIns="0" rIns="0" bIns="0" rtlCol="0" anchor="t"/>
          <a:lstStyle/>
          <a:p>
            <a:pPr indent="0" marL="0">
              <a:buNone/>
            </a:pPr>
            <a:r>
              <a:rPr lang="en-US" sz="1300" b="1" dirty="0">
                <a:solidFill>
                  <a:schemeClr val="accent1"/>
                </a:solidFill>
              </a:rPr>
              <a:t>Joint venture / partner</a:t>
            </a:r>
            <a:endParaRPr lang="en-US" sz="1300" dirty="0"/>
          </a:p>
        </p:txBody>
      </p:sp>
      <p:sp>
        <p:nvSpPr>
          <p:cNvPr id="35" name="Text 30"/>
          <p:cNvSpPr txBox="1"/>
          <p:nvPr/>
        </p:nvSpPr>
        <p:spPr>
          <a:xfrm>
            <a:off x="4800600" y="3090672"/>
            <a:ext cx="1691640" cy="685800"/>
          </a:xfrm>
          <a:prstGeom prst="rect">
            <a:avLst/>
          </a:prstGeom>
          <a:noFill/>
          <a:ln/>
        </p:spPr>
        <p:txBody>
          <a:bodyPr wrap="square" lIns="0" tIns="0" rIns="0" bIns="0" rtlCol="0" anchor="t"/>
          <a:lstStyle/>
          <a:p>
            <a:pPr indent="0" marL="0">
              <a:buNone/>
            </a:pPr>
            <a:r>
              <a:rPr lang="en-US" sz="1200" dirty="0">
                <a:solidFill>
                  <a:schemeClr val="bg1"/>
                </a:solidFill>
              </a:rPr>
              <a:t>McDonald's shares ownership with local investors</a:t>
            </a:r>
            <a:endParaRPr lang="en-US" sz="1200" dirty="0"/>
          </a:p>
        </p:txBody>
      </p:sp>
      <p:sp>
        <p:nvSpPr>
          <p:cNvPr id="36" name="Text 31"/>
          <p:cNvSpPr txBox="1"/>
          <p:nvPr/>
        </p:nvSpPr>
        <p:spPr>
          <a:xfrm>
            <a:off x="4800600" y="3794760"/>
            <a:ext cx="1691640" cy="347472"/>
          </a:xfrm>
          <a:prstGeom prst="rect">
            <a:avLst/>
          </a:prstGeom>
          <a:noFill/>
          <a:ln/>
        </p:spPr>
        <p:txBody>
          <a:bodyPr wrap="square" lIns="0" tIns="0" rIns="0" bIns="0" rtlCol="0" anchor="t"/>
          <a:lstStyle/>
          <a:p>
            <a:pPr indent="0" marL="0">
              <a:buNone/>
            </a:pPr>
            <a:r>
              <a:rPr lang="en-US" sz="1000" i="1" dirty="0">
                <a:solidFill>
                  <a:schemeClr val="bg2"/>
                </a:solidFill>
              </a:rPr>
              <a:t>e.g. China (CITIC and Carlyle, 2017)</a:t>
            </a:r>
            <a:endParaRPr lang="en-US" sz="1000" dirty="0"/>
          </a:p>
        </p:txBody>
      </p:sp>
      <p:sp>
        <p:nvSpPr>
          <p:cNvPr id="37" name="Entry mode card"/>
          <p:cNvSpPr/>
          <p:nvPr/>
        </p:nvSpPr>
        <p:spPr>
          <a:xfrm>
            <a:off x="6766560" y="2103120"/>
            <a:ext cx="1920240" cy="2103120"/>
          </a:xfrm>
          <a:prstGeom prst="roundRect">
            <a:avLst>
              <a:gd name="adj" fmla="val 5714"/>
            </a:avLst>
          </a:prstGeom>
          <a:solidFill>
            <a:schemeClr val="tx2"/>
          </a:solidFill>
          <a:ln w="12700">
            <a:solidFill>
              <a:schemeClr val="tx2"/>
            </a:solidFill>
            <a:prstDash val="solid"/>
          </a:ln>
        </p:spPr>
      </p:sp>
      <p:sp>
        <p:nvSpPr>
          <p:cNvPr id="38" name="Icon circle"/>
          <p:cNvSpPr/>
          <p:nvPr/>
        </p:nvSpPr>
        <p:spPr>
          <a:xfrm>
            <a:off x="6903720" y="2212848"/>
            <a:ext cx="411480" cy="411480"/>
          </a:xfrm>
          <a:prstGeom prst="ellipse">
            <a:avLst/>
          </a:prstGeom>
          <a:solidFill>
            <a:schemeClr val="accent1"/>
          </a:solidFill>
          <a:ln w="12700">
            <a:solidFill>
              <a:schemeClr val="accent1"/>
            </a:solidFill>
            <a:prstDash val="solid"/>
          </a:ln>
        </p:spPr>
      </p:sp>
      <p:pic>
        <p:nvPicPr>
          <p:cNvPr id="39" name="Icon" descr="preencoded.png">    </p:cNvPr>
          <p:cNvPicPr>
            <a:picLocks noChangeAspect="1"/>
          </p:cNvPicPr>
          <p:nvPr/>
        </p:nvPicPr>
        <p:blipFill>
          <a:blip r:embed="rId4"/>
          <a:stretch>
            <a:fillRect/>
          </a:stretch>
        </p:blipFill>
        <p:spPr>
          <a:xfrm>
            <a:off x="6994246" y="2303374"/>
            <a:ext cx="230429" cy="230429"/>
          </a:xfrm>
          <a:prstGeom prst="rect">
            <a:avLst/>
          </a:prstGeom>
        </p:spPr>
      </p:pic>
      <p:sp>
        <p:nvSpPr>
          <p:cNvPr id="40" name="Text 34"/>
          <p:cNvSpPr txBox="1"/>
          <p:nvPr/>
        </p:nvSpPr>
        <p:spPr>
          <a:xfrm>
            <a:off x="6903720" y="2670048"/>
            <a:ext cx="1691640" cy="411480"/>
          </a:xfrm>
          <a:prstGeom prst="rect">
            <a:avLst/>
          </a:prstGeom>
          <a:noFill/>
          <a:ln/>
        </p:spPr>
        <p:txBody>
          <a:bodyPr wrap="square" lIns="0" tIns="0" rIns="0" bIns="0" rtlCol="0" anchor="t"/>
          <a:lstStyle/>
          <a:p>
            <a:pPr indent="0" marL="0">
              <a:buNone/>
            </a:pPr>
            <a:r>
              <a:rPr lang="en-US" sz="1300" b="1" dirty="0">
                <a:solidFill>
                  <a:schemeClr val="accent1"/>
                </a:solidFill>
              </a:rPr>
              <a:t>Company-operated</a:t>
            </a:r>
            <a:endParaRPr lang="en-US" sz="1300" dirty="0"/>
          </a:p>
        </p:txBody>
      </p:sp>
      <p:sp>
        <p:nvSpPr>
          <p:cNvPr id="41" name="Text 35"/>
          <p:cNvSpPr txBox="1"/>
          <p:nvPr/>
        </p:nvSpPr>
        <p:spPr>
          <a:xfrm>
            <a:off x="6903720" y="3090672"/>
            <a:ext cx="1691640" cy="685800"/>
          </a:xfrm>
          <a:prstGeom prst="rect">
            <a:avLst/>
          </a:prstGeom>
          <a:noFill/>
          <a:ln/>
        </p:spPr>
        <p:txBody>
          <a:bodyPr wrap="square" lIns="0" tIns="0" rIns="0" bIns="0" rtlCol="0" anchor="t"/>
          <a:lstStyle/>
          <a:p>
            <a:pPr indent="0" marL="0">
              <a:buNone/>
            </a:pPr>
            <a:r>
              <a:rPr lang="en-US" sz="1200" dirty="0">
                <a:solidFill>
                  <a:schemeClr val="bg1"/>
                </a:solidFill>
              </a:rPr>
              <a:t>McDonald's owns and runs the restaurant itself</a:t>
            </a:r>
            <a:endParaRPr lang="en-US" sz="1200" dirty="0"/>
          </a:p>
        </p:txBody>
      </p:sp>
      <p:sp>
        <p:nvSpPr>
          <p:cNvPr id="42" name="Text 36"/>
          <p:cNvSpPr txBox="1"/>
          <p:nvPr/>
        </p:nvSpPr>
        <p:spPr>
          <a:xfrm>
            <a:off x="6903720" y="3794760"/>
            <a:ext cx="1691640" cy="347472"/>
          </a:xfrm>
          <a:prstGeom prst="rect">
            <a:avLst/>
          </a:prstGeom>
          <a:noFill/>
          <a:ln/>
        </p:spPr>
        <p:txBody>
          <a:bodyPr wrap="square" lIns="0" tIns="0" rIns="0" bIns="0" rtlCol="0" anchor="t"/>
          <a:lstStyle/>
          <a:p>
            <a:pPr indent="0" marL="0">
              <a:buNone/>
            </a:pPr>
            <a:r>
              <a:rPr lang="en-US" sz="1000" i="1" dirty="0">
                <a:solidFill>
                  <a:schemeClr val="bg2"/>
                </a:solidFill>
              </a:rPr>
              <a:t>e.g. A minority of restaurants</a:t>
            </a:r>
            <a:endParaRPr lang="en-US" sz="1000" dirty="0"/>
          </a:p>
        </p:txBody>
      </p:sp>
      <p:sp>
        <p:nvSpPr>
          <p:cNvPr id="43" name="Text 37"/>
          <p:cNvSpPr txBox="1"/>
          <p:nvPr/>
        </p:nvSpPr>
        <p:spPr>
          <a:xfrm>
            <a:off x="457200" y="4297680"/>
            <a:ext cx="8229600" cy="320040"/>
          </a:xfrm>
          <a:prstGeom prst="rect">
            <a:avLst/>
          </a:prstGeom>
          <a:noFill/>
          <a:ln/>
        </p:spPr>
        <p:txBody>
          <a:bodyPr wrap="square" lIns="0" tIns="0" rIns="0" bIns="0" rtlCol="0" anchor="ctr"/>
          <a:lstStyle/>
          <a:p>
            <a:pPr indent="0" marL="0">
              <a:buNone/>
            </a:pPr>
            <a:r>
              <a:rPr lang="en-US" sz="1200" b="1" dirty="0">
                <a:solidFill>
                  <a:schemeClr val="accent1"/>
                </a:solidFill>
              </a:rPr>
              <a:t>Our two cases: </a:t>
            </a:r>
            <a:pPr indent="0" marL="0">
              <a:buNone/>
            </a:pPr>
            <a:r>
              <a:rPr lang="en-US" sz="1200" dirty="0">
                <a:solidFill>
                  <a:schemeClr val="bg1"/>
                </a:solidFill>
              </a:rPr>
              <a:t>France is an International Operated Market; Saudi Arabia is a Developmental Licensed Market.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Original slide" descr="/tmp/claude-0/-home-user-Odeam/2d716dfa-dede-5887-a88c-08b62616e64c/scratchpad/src/p-06.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accent1"/>
                </a:solidFill>
              </a:rPr>
              <a:t>McDonald's Adaptation in France</a:t>
            </a:r>
            <a:endParaRPr lang="en-US" sz="3000" dirty="0"/>
          </a:p>
        </p:txBody>
      </p:sp>
      <p:sp>
        <p:nvSpPr>
          <p:cNvPr id="3" name="Text 1"/>
          <p:cNvSpPr txBox="1"/>
          <p:nvPr/>
        </p:nvSpPr>
        <p:spPr>
          <a:xfrm>
            <a:off x="457200" y="1051560"/>
            <a:ext cx="5394960" cy="320040"/>
          </a:xfrm>
          <a:prstGeom prst="rect">
            <a:avLst/>
          </a:prstGeom>
          <a:noFill/>
          <a:ln/>
        </p:spPr>
        <p:txBody>
          <a:bodyPr wrap="square" lIns="0" tIns="0" rIns="0" bIns="0" rtlCol="0" anchor="ctr"/>
          <a:lstStyle/>
          <a:p>
            <a:pPr indent="0" marL="0">
              <a:buNone/>
            </a:pPr>
            <a:r>
              <a:rPr lang="en-US" sz="1600" b="1" dirty="0">
                <a:solidFill>
                  <a:schemeClr val="accent1"/>
                </a:solidFill>
              </a:rPr>
              <a:t>1. Product adaptation</a:t>
            </a:r>
            <a:endParaRPr lang="en-US" sz="1600" dirty="0"/>
          </a:p>
        </p:txBody>
      </p:sp>
      <p:sp>
        <p:nvSpPr>
          <p:cNvPr id="4" name="Text 2"/>
          <p:cNvSpPr txBox="1"/>
          <p:nvPr/>
        </p:nvSpPr>
        <p:spPr>
          <a:xfrm>
            <a:off x="457200" y="1399032"/>
            <a:ext cx="5394960" cy="7315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McBaguette (2012): baguette-style bread and French cheese</a:t>
            </a:r>
            <a:endParaRPr lang="en-US" sz="1400" dirty="0"/>
          </a:p>
          <a:p>
            <a:pPr marL="342900" indent="-342900">
              <a:spcAft>
                <a:spcPts val="300"/>
              </a:spcAft>
              <a:buSzPct val="100000"/>
              <a:buChar char="•"/>
            </a:pPr>
            <a:r>
              <a:rPr lang="en-US" sz="1400" dirty="0">
                <a:solidFill>
                  <a:schemeClr val="bg1"/>
                </a:solidFill>
              </a:rPr>
              <a:t>McCafé pastries and macarons</a:t>
            </a:r>
            <a:endParaRPr lang="en-US" sz="1400" dirty="0"/>
          </a:p>
        </p:txBody>
      </p:sp>
      <p:sp>
        <p:nvSpPr>
          <p:cNvPr id="5" name="Text 3"/>
          <p:cNvSpPr txBox="1"/>
          <p:nvPr/>
        </p:nvSpPr>
        <p:spPr>
          <a:xfrm>
            <a:off x="457200" y="2240280"/>
            <a:ext cx="5394960" cy="320040"/>
          </a:xfrm>
          <a:prstGeom prst="rect">
            <a:avLst/>
          </a:prstGeom>
          <a:noFill/>
          <a:ln/>
        </p:spPr>
        <p:txBody>
          <a:bodyPr wrap="square" lIns="0" tIns="0" rIns="0" bIns="0" rtlCol="0" anchor="ctr"/>
          <a:lstStyle/>
          <a:p>
            <a:pPr indent="0" marL="0">
              <a:buNone/>
            </a:pPr>
            <a:r>
              <a:rPr lang="en-US" sz="1600" b="1" dirty="0">
                <a:solidFill>
                  <a:schemeClr val="accent1"/>
                </a:solidFill>
              </a:rPr>
              <a:t>2. Local sourcing</a:t>
            </a:r>
            <a:endParaRPr lang="en-US" sz="1600" dirty="0"/>
          </a:p>
        </p:txBody>
      </p:sp>
      <p:sp>
        <p:nvSpPr>
          <p:cNvPr id="6" name="Text 4"/>
          <p:cNvSpPr txBox="1"/>
          <p:nvPr/>
        </p:nvSpPr>
        <p:spPr>
          <a:xfrm>
            <a:off x="457200" y="2587752"/>
            <a:ext cx="5394960" cy="7315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Uses French agricultural ingredients</a:t>
            </a:r>
            <a:endParaRPr lang="en-US" sz="1400" dirty="0"/>
          </a:p>
          <a:p>
            <a:pPr marL="342900" indent="-342900">
              <a:spcAft>
                <a:spcPts val="300"/>
              </a:spcAft>
              <a:buSzPct val="100000"/>
              <a:buChar char="•"/>
            </a:pPr>
            <a:r>
              <a:rPr lang="en-US" sz="1400" dirty="0">
                <a:solidFill>
                  <a:schemeClr val="bg1"/>
                </a:solidFill>
              </a:rPr>
              <a:t>Works with French farmers and suppliers</a:t>
            </a:r>
            <a:endParaRPr lang="en-US" sz="1400" dirty="0"/>
          </a:p>
        </p:txBody>
      </p:sp>
      <p:sp>
        <p:nvSpPr>
          <p:cNvPr id="7" name="Text 5"/>
          <p:cNvSpPr txBox="1"/>
          <p:nvPr/>
        </p:nvSpPr>
        <p:spPr>
          <a:xfrm>
            <a:off x="457200" y="3429000"/>
            <a:ext cx="5394960" cy="320040"/>
          </a:xfrm>
          <a:prstGeom prst="rect">
            <a:avLst/>
          </a:prstGeom>
          <a:noFill/>
          <a:ln/>
        </p:spPr>
        <p:txBody>
          <a:bodyPr wrap="square" lIns="0" tIns="0" rIns="0" bIns="0" rtlCol="0" anchor="ctr"/>
          <a:lstStyle/>
          <a:p>
            <a:pPr indent="0" marL="0">
              <a:buNone/>
            </a:pPr>
            <a:r>
              <a:rPr lang="en-US" sz="1600" b="1" dirty="0">
                <a:solidFill>
                  <a:schemeClr val="accent1"/>
                </a:solidFill>
              </a:rPr>
              <a:t>3. Marketing and customer relevance</a:t>
            </a:r>
            <a:endParaRPr lang="en-US" sz="1600" dirty="0"/>
          </a:p>
        </p:txBody>
      </p:sp>
      <p:sp>
        <p:nvSpPr>
          <p:cNvPr id="8" name="Text 6"/>
          <p:cNvSpPr txBox="1"/>
          <p:nvPr/>
        </p:nvSpPr>
        <p:spPr>
          <a:xfrm>
            <a:off x="457200" y="3776472"/>
            <a:ext cx="5394960" cy="7315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Connects with French food culture</a:t>
            </a:r>
            <a:endParaRPr lang="en-US" sz="1400" dirty="0"/>
          </a:p>
          <a:p>
            <a:pPr marL="342900" indent="-342900">
              <a:spcAft>
                <a:spcPts val="300"/>
              </a:spcAft>
              <a:buSzPct val="100000"/>
              <a:buChar char="•"/>
            </a:pPr>
            <a:r>
              <a:rPr lang="en-US" sz="1400" dirty="0">
                <a:solidFill>
                  <a:schemeClr val="bg1"/>
                </a:solidFill>
              </a:rPr>
              <a:t>Keeps its global brand while adapting the menu locally</a:t>
            </a:r>
            <a:endParaRPr lang="en-US" sz="1400" dirty="0"/>
          </a:p>
        </p:txBody>
      </p:sp>
      <p:pic>
        <p:nvPicPr>
          <p:cNvPr id="9" name="McBaguette photo" descr="/tmp/claude-0/-home-user-Odeam/2d716dfa-dede-5887-a88c-08b62616e64c/scratchpad/build/fr_photo.jpg">    </p:cNvPr>
          <p:cNvPicPr>
            <a:picLocks noChangeAspect="1"/>
          </p:cNvPicPr>
          <p:nvPr/>
        </p:nvPicPr>
        <p:blipFill>
          <a:blip r:embed="rId1"/>
          <a:stretch>
            <a:fillRect/>
          </a:stretch>
        </p:blipFill>
        <p:spPr>
          <a:xfrm>
            <a:off x="6309360" y="1051560"/>
            <a:ext cx="2377440" cy="358523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accent1"/>
                </a:solidFill>
              </a:rPr>
              <a:t>McDonald's Adaptation in Saudi Arabia</a:t>
            </a:r>
            <a:endParaRPr lang="en-US" sz="3000" dirty="0"/>
          </a:p>
        </p:txBody>
      </p:sp>
      <p:sp>
        <p:nvSpPr>
          <p:cNvPr id="3" name="Text 1"/>
          <p:cNvSpPr txBox="1"/>
          <p:nvPr/>
        </p:nvSpPr>
        <p:spPr>
          <a:xfrm>
            <a:off x="457200" y="1051560"/>
            <a:ext cx="5486400" cy="320040"/>
          </a:xfrm>
          <a:prstGeom prst="rect">
            <a:avLst/>
          </a:prstGeom>
          <a:noFill/>
          <a:ln/>
        </p:spPr>
        <p:txBody>
          <a:bodyPr wrap="square" lIns="0" tIns="0" rIns="0" bIns="0" rtlCol="0" anchor="ctr"/>
          <a:lstStyle/>
          <a:p>
            <a:pPr indent="0" marL="0">
              <a:buNone/>
            </a:pPr>
            <a:r>
              <a:rPr lang="en-US" sz="1600" b="1" dirty="0">
                <a:solidFill>
                  <a:schemeClr val="accent1"/>
                </a:solidFill>
              </a:rPr>
              <a:t>1. Halal requirements</a:t>
            </a:r>
            <a:endParaRPr lang="en-US" sz="1600" dirty="0"/>
          </a:p>
        </p:txBody>
      </p:sp>
      <p:sp>
        <p:nvSpPr>
          <p:cNvPr id="4" name="Text 2"/>
          <p:cNvSpPr txBox="1"/>
          <p:nvPr/>
        </p:nvSpPr>
        <p:spPr>
          <a:xfrm>
            <a:off x="457200" y="1399032"/>
            <a:ext cx="5486400" cy="7315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Meat and relevant ingredients must meet halal requirements</a:t>
            </a:r>
            <a:endParaRPr lang="en-US" sz="1400" dirty="0"/>
          </a:p>
          <a:p>
            <a:pPr marL="342900" indent="-342900">
              <a:spcAft>
                <a:spcPts val="300"/>
              </a:spcAft>
              <a:buSzPct val="100000"/>
              <a:buChar char="•"/>
            </a:pPr>
            <a:r>
              <a:rPr lang="en-US" sz="1400" dirty="0">
                <a:solidFill>
                  <a:schemeClr val="bg1"/>
                </a:solidFill>
              </a:rPr>
              <a:t>Approved suppliers and quality controls ensure compliance</a:t>
            </a:r>
            <a:endParaRPr lang="en-US" sz="1400" dirty="0"/>
          </a:p>
        </p:txBody>
      </p:sp>
      <p:sp>
        <p:nvSpPr>
          <p:cNvPr id="5" name="Text 3"/>
          <p:cNvSpPr txBox="1"/>
          <p:nvPr/>
        </p:nvSpPr>
        <p:spPr>
          <a:xfrm>
            <a:off x="457200" y="2240280"/>
            <a:ext cx="5486400" cy="320040"/>
          </a:xfrm>
          <a:prstGeom prst="rect">
            <a:avLst/>
          </a:prstGeom>
          <a:noFill/>
          <a:ln/>
        </p:spPr>
        <p:txBody>
          <a:bodyPr wrap="square" lIns="0" tIns="0" rIns="0" bIns="0" rtlCol="0" anchor="ctr"/>
          <a:lstStyle/>
          <a:p>
            <a:pPr indent="0" marL="0">
              <a:buNone/>
            </a:pPr>
            <a:r>
              <a:rPr lang="en-US" sz="1600" b="1" dirty="0">
                <a:solidFill>
                  <a:schemeClr val="accent1"/>
                </a:solidFill>
              </a:rPr>
              <a:t>2. Supply-chain adaptation</a:t>
            </a:r>
            <a:endParaRPr lang="en-US" sz="1600" dirty="0"/>
          </a:p>
        </p:txBody>
      </p:sp>
      <p:sp>
        <p:nvSpPr>
          <p:cNvPr id="6" name="Text 4"/>
          <p:cNvSpPr txBox="1"/>
          <p:nvPr/>
        </p:nvSpPr>
        <p:spPr>
          <a:xfrm>
            <a:off x="457200" y="2587752"/>
            <a:ext cx="5486400" cy="7315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Supplier checks and halal certification support compliance</a:t>
            </a:r>
            <a:endParaRPr lang="en-US" sz="1400" dirty="0"/>
          </a:p>
          <a:p>
            <a:pPr marL="342900" indent="-342900">
              <a:spcAft>
                <a:spcPts val="300"/>
              </a:spcAft>
              <a:buSzPct val="100000"/>
              <a:buChar char="•"/>
            </a:pPr>
            <a:r>
              <a:rPr lang="en-US" sz="1400" dirty="0">
                <a:solidFill>
                  <a:schemeClr val="bg1"/>
                </a:solidFill>
              </a:rPr>
              <a:t>Sourcing and preparation follow Saudi food rules</a:t>
            </a:r>
            <a:endParaRPr lang="en-US" sz="1400" dirty="0"/>
          </a:p>
        </p:txBody>
      </p:sp>
      <p:sp>
        <p:nvSpPr>
          <p:cNvPr id="7" name="Text 5"/>
          <p:cNvSpPr txBox="1"/>
          <p:nvPr/>
        </p:nvSpPr>
        <p:spPr>
          <a:xfrm>
            <a:off x="457200" y="3429000"/>
            <a:ext cx="5486400" cy="320040"/>
          </a:xfrm>
          <a:prstGeom prst="rect">
            <a:avLst/>
          </a:prstGeom>
          <a:noFill/>
          <a:ln/>
        </p:spPr>
        <p:txBody>
          <a:bodyPr wrap="square" lIns="0" tIns="0" rIns="0" bIns="0" rtlCol="0" anchor="ctr"/>
          <a:lstStyle/>
          <a:p>
            <a:pPr indent="0" marL="0">
              <a:buNone/>
            </a:pPr>
            <a:r>
              <a:rPr lang="en-US" sz="1600" b="1" dirty="0">
                <a:solidFill>
                  <a:schemeClr val="accent1"/>
                </a:solidFill>
              </a:rPr>
              <a:t>3. Local business operations</a:t>
            </a:r>
            <a:endParaRPr lang="en-US" sz="1600" dirty="0"/>
          </a:p>
        </p:txBody>
      </p:sp>
      <p:sp>
        <p:nvSpPr>
          <p:cNvPr id="8" name="Text 6"/>
          <p:cNvSpPr txBox="1"/>
          <p:nvPr/>
        </p:nvSpPr>
        <p:spPr>
          <a:xfrm>
            <a:off x="457200" y="3776472"/>
            <a:ext cx="5486400" cy="73152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Operates through local Saudi franchise businesses</a:t>
            </a:r>
            <a:endParaRPr lang="en-US" sz="1400" dirty="0"/>
          </a:p>
          <a:p>
            <a:pPr marL="342900" indent="-342900">
              <a:spcAft>
                <a:spcPts val="300"/>
              </a:spcAft>
              <a:buSzPct val="100000"/>
              <a:buChar char="•"/>
            </a:pPr>
            <a:r>
              <a:rPr lang="en-US" sz="1400" dirty="0">
                <a:solidFill>
                  <a:schemeClr val="bg1"/>
                </a:solidFill>
              </a:rPr>
              <a:t>Local partners bring knowledge of the Saudi market</a:t>
            </a:r>
            <a:endParaRPr lang="en-US" sz="1400" dirty="0"/>
          </a:p>
        </p:txBody>
      </p:sp>
      <p:pic>
        <p:nvPicPr>
          <p:cNvPr id="9" name="Saudi drive-thru photo" descr="/tmp/claude-0/-home-user-Odeam/2d716dfa-dede-5887-a88c-08b62616e64c/scratchpad/build/sa_photo.jpg">    </p:cNvPr>
          <p:cNvPicPr>
            <a:picLocks noChangeAspect="1"/>
          </p:cNvPicPr>
          <p:nvPr/>
        </p:nvPicPr>
        <p:blipFill>
          <a:blip r:embed="rId1"/>
          <a:stretch>
            <a:fillRect/>
          </a:stretch>
        </p:blipFill>
        <p:spPr>
          <a:xfrm>
            <a:off x="6675120" y="1051560"/>
            <a:ext cx="2011680" cy="3589353"/>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accent1"/>
                </a:solidFill>
              </a:rPr>
              <a:t>Saudi Arabia: Menu and Culture</a:t>
            </a:r>
            <a:endParaRPr lang="en-US" sz="3000" dirty="0"/>
          </a:p>
        </p:txBody>
      </p:sp>
      <p:sp>
        <p:nvSpPr>
          <p:cNvPr id="3" name="Culture card"/>
          <p:cNvSpPr/>
          <p:nvPr/>
        </p:nvSpPr>
        <p:spPr>
          <a:xfrm>
            <a:off x="457200" y="1097280"/>
            <a:ext cx="4023360" cy="1417320"/>
          </a:xfrm>
          <a:prstGeom prst="roundRect">
            <a:avLst>
              <a:gd name="adj" fmla="val 7742"/>
            </a:avLst>
          </a:prstGeom>
          <a:solidFill>
            <a:schemeClr val="tx2"/>
          </a:solidFill>
          <a:ln w="12700">
            <a:solidFill>
              <a:schemeClr val="tx2"/>
            </a:solidFill>
            <a:prstDash val="solid"/>
          </a:ln>
        </p:spPr>
      </p:sp>
      <p:sp>
        <p:nvSpPr>
          <p:cNvPr id="4" name="Icon circle"/>
          <p:cNvSpPr/>
          <p:nvPr/>
        </p:nvSpPr>
        <p:spPr>
          <a:xfrm>
            <a:off x="685800" y="1481328"/>
            <a:ext cx="640080" cy="64008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826618" y="1622146"/>
            <a:ext cx="358445" cy="358445"/>
          </a:xfrm>
          <a:prstGeom prst="rect">
            <a:avLst/>
          </a:prstGeom>
        </p:spPr>
      </p:pic>
      <p:sp>
        <p:nvSpPr>
          <p:cNvPr id="6" name="Text 3"/>
          <p:cNvSpPr txBox="1"/>
          <p:nvPr/>
        </p:nvSpPr>
        <p:spPr>
          <a:xfrm>
            <a:off x="1554480" y="1371600"/>
            <a:ext cx="2743200" cy="365760"/>
          </a:xfrm>
          <a:prstGeom prst="rect">
            <a:avLst/>
          </a:prstGeom>
          <a:noFill/>
          <a:ln/>
        </p:spPr>
        <p:txBody>
          <a:bodyPr wrap="square" lIns="0" tIns="0" rIns="0" bIns="0" rtlCol="0" anchor="ctr"/>
          <a:lstStyle/>
          <a:p>
            <a:pPr indent="0" marL="0">
              <a:buNone/>
            </a:pPr>
            <a:r>
              <a:rPr lang="en-US" sz="1800" b="1" dirty="0">
                <a:solidFill>
                  <a:schemeClr val="accent1"/>
                </a:solidFill>
              </a:rPr>
              <a:t>McArabia</a:t>
            </a:r>
            <a:endParaRPr lang="en-US" sz="1800" dirty="0"/>
          </a:p>
        </p:txBody>
      </p:sp>
      <p:sp>
        <p:nvSpPr>
          <p:cNvPr id="7" name="Text 4"/>
          <p:cNvSpPr txBox="1"/>
          <p:nvPr/>
        </p:nvSpPr>
        <p:spPr>
          <a:xfrm>
            <a:off x="1554480" y="1755648"/>
            <a:ext cx="2743200" cy="548640"/>
          </a:xfrm>
          <a:prstGeom prst="rect">
            <a:avLst/>
          </a:prstGeom>
          <a:noFill/>
          <a:ln/>
        </p:spPr>
        <p:txBody>
          <a:bodyPr wrap="square" lIns="0" tIns="0" rIns="0" bIns="0" rtlCol="0" anchor="t"/>
          <a:lstStyle/>
          <a:p>
            <a:pPr indent="0" marL="0">
              <a:buNone/>
            </a:pPr>
            <a:r>
              <a:rPr lang="en-US" sz="1400" dirty="0">
                <a:solidFill>
                  <a:schemeClr val="bg1"/>
                </a:solidFill>
              </a:rPr>
              <a:t>Grilled chicken or kofta in Arabic flatbread</a:t>
            </a:r>
            <a:endParaRPr lang="en-US" sz="1400" dirty="0"/>
          </a:p>
        </p:txBody>
      </p:sp>
      <p:sp>
        <p:nvSpPr>
          <p:cNvPr id="8" name="Culture card"/>
          <p:cNvSpPr/>
          <p:nvPr/>
        </p:nvSpPr>
        <p:spPr>
          <a:xfrm>
            <a:off x="4663440" y="1097280"/>
            <a:ext cx="4023360" cy="1417320"/>
          </a:xfrm>
          <a:prstGeom prst="roundRect">
            <a:avLst>
              <a:gd name="adj" fmla="val 7742"/>
            </a:avLst>
          </a:prstGeom>
          <a:solidFill>
            <a:schemeClr val="tx2"/>
          </a:solidFill>
          <a:ln w="12700">
            <a:solidFill>
              <a:schemeClr val="tx2"/>
            </a:solidFill>
            <a:prstDash val="solid"/>
          </a:ln>
        </p:spPr>
      </p:sp>
      <p:sp>
        <p:nvSpPr>
          <p:cNvPr id="9" name="Icon circle"/>
          <p:cNvSpPr/>
          <p:nvPr/>
        </p:nvSpPr>
        <p:spPr>
          <a:xfrm>
            <a:off x="4892040" y="1481328"/>
            <a:ext cx="640080" cy="64008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5032858" y="1622146"/>
            <a:ext cx="358445" cy="358445"/>
          </a:xfrm>
          <a:prstGeom prst="rect">
            <a:avLst/>
          </a:prstGeom>
        </p:spPr>
      </p:pic>
      <p:sp>
        <p:nvSpPr>
          <p:cNvPr id="11" name="Text 7"/>
          <p:cNvSpPr txBox="1"/>
          <p:nvPr/>
        </p:nvSpPr>
        <p:spPr>
          <a:xfrm>
            <a:off x="5760720" y="1371600"/>
            <a:ext cx="2743200" cy="365760"/>
          </a:xfrm>
          <a:prstGeom prst="rect">
            <a:avLst/>
          </a:prstGeom>
          <a:noFill/>
          <a:ln/>
        </p:spPr>
        <p:txBody>
          <a:bodyPr wrap="square" lIns="0" tIns="0" rIns="0" bIns="0" rtlCol="0" anchor="ctr"/>
          <a:lstStyle/>
          <a:p>
            <a:pPr indent="0" marL="0">
              <a:buNone/>
            </a:pPr>
            <a:r>
              <a:rPr lang="en-US" sz="1800" b="1" dirty="0">
                <a:solidFill>
                  <a:schemeClr val="accent1"/>
                </a:solidFill>
              </a:rPr>
              <a:t>Ramadan</a:t>
            </a:r>
            <a:endParaRPr lang="en-US" sz="1800" dirty="0"/>
          </a:p>
        </p:txBody>
      </p:sp>
      <p:sp>
        <p:nvSpPr>
          <p:cNvPr id="12" name="Text 8"/>
          <p:cNvSpPr txBox="1"/>
          <p:nvPr/>
        </p:nvSpPr>
        <p:spPr>
          <a:xfrm>
            <a:off x="5760720" y="1755648"/>
            <a:ext cx="2743200" cy="548640"/>
          </a:xfrm>
          <a:prstGeom prst="rect">
            <a:avLst/>
          </a:prstGeom>
          <a:noFill/>
          <a:ln/>
        </p:spPr>
        <p:txBody>
          <a:bodyPr wrap="square" lIns="0" tIns="0" rIns="0" bIns="0" rtlCol="0" anchor="t"/>
          <a:lstStyle/>
          <a:p>
            <a:pPr indent="0" marL="0">
              <a:buNone/>
            </a:pPr>
            <a:r>
              <a:rPr lang="en-US" sz="1400" dirty="0">
                <a:solidFill>
                  <a:schemeClr val="bg1"/>
                </a:solidFill>
              </a:rPr>
              <a:t>Special menus and late hours for iftar and suhoor</a:t>
            </a:r>
            <a:endParaRPr lang="en-US" sz="1400" dirty="0"/>
          </a:p>
        </p:txBody>
      </p:sp>
      <p:sp>
        <p:nvSpPr>
          <p:cNvPr id="13" name="Culture card"/>
          <p:cNvSpPr/>
          <p:nvPr/>
        </p:nvSpPr>
        <p:spPr>
          <a:xfrm>
            <a:off x="457200" y="2697480"/>
            <a:ext cx="4023360" cy="1417320"/>
          </a:xfrm>
          <a:prstGeom prst="roundRect">
            <a:avLst>
              <a:gd name="adj" fmla="val 7742"/>
            </a:avLst>
          </a:prstGeom>
          <a:solidFill>
            <a:schemeClr val="tx2"/>
          </a:solidFill>
          <a:ln w="12700">
            <a:solidFill>
              <a:schemeClr val="tx2"/>
            </a:solidFill>
            <a:prstDash val="solid"/>
          </a:ln>
        </p:spPr>
      </p:sp>
      <p:sp>
        <p:nvSpPr>
          <p:cNvPr id="14" name="Icon circle"/>
          <p:cNvSpPr/>
          <p:nvPr/>
        </p:nvSpPr>
        <p:spPr>
          <a:xfrm>
            <a:off x="685800" y="3081528"/>
            <a:ext cx="640080" cy="640080"/>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826618" y="3222346"/>
            <a:ext cx="358445" cy="358445"/>
          </a:xfrm>
          <a:prstGeom prst="rect">
            <a:avLst/>
          </a:prstGeom>
        </p:spPr>
      </p:pic>
      <p:sp>
        <p:nvSpPr>
          <p:cNvPr id="16" name="Text 11"/>
          <p:cNvSpPr txBox="1"/>
          <p:nvPr/>
        </p:nvSpPr>
        <p:spPr>
          <a:xfrm>
            <a:off x="1554480" y="2971800"/>
            <a:ext cx="2743200" cy="365760"/>
          </a:xfrm>
          <a:prstGeom prst="rect">
            <a:avLst/>
          </a:prstGeom>
          <a:noFill/>
          <a:ln/>
        </p:spPr>
        <p:txBody>
          <a:bodyPr wrap="square" lIns="0" tIns="0" rIns="0" bIns="0" rtlCol="0" anchor="ctr"/>
          <a:lstStyle/>
          <a:p>
            <a:pPr indent="0" marL="0">
              <a:buNone/>
            </a:pPr>
            <a:r>
              <a:rPr lang="en-US" sz="1800" b="1" dirty="0">
                <a:solidFill>
                  <a:schemeClr val="accent1"/>
                </a:solidFill>
              </a:rPr>
              <a:t>Family dining</a:t>
            </a:r>
            <a:endParaRPr lang="en-US" sz="1800" dirty="0"/>
          </a:p>
        </p:txBody>
      </p:sp>
      <p:sp>
        <p:nvSpPr>
          <p:cNvPr id="17" name="Text 12"/>
          <p:cNvSpPr txBox="1"/>
          <p:nvPr/>
        </p:nvSpPr>
        <p:spPr>
          <a:xfrm>
            <a:off x="1554480" y="3355848"/>
            <a:ext cx="2743200" cy="548640"/>
          </a:xfrm>
          <a:prstGeom prst="rect">
            <a:avLst/>
          </a:prstGeom>
          <a:noFill/>
          <a:ln/>
        </p:spPr>
        <p:txBody>
          <a:bodyPr wrap="square" lIns="0" tIns="0" rIns="0" bIns="0" rtlCol="0" anchor="t"/>
          <a:lstStyle/>
          <a:p>
            <a:pPr indent="0" marL="0">
              <a:buNone/>
            </a:pPr>
            <a:r>
              <a:rPr lang="en-US" sz="1400" dirty="0">
                <a:solidFill>
                  <a:schemeClr val="bg1"/>
                </a:solidFill>
              </a:rPr>
              <a:t>Family seating areas and a strong drive-thru focus</a:t>
            </a:r>
            <a:endParaRPr lang="en-US" sz="1400" dirty="0"/>
          </a:p>
        </p:txBody>
      </p:sp>
      <p:sp>
        <p:nvSpPr>
          <p:cNvPr id="18" name="Culture card"/>
          <p:cNvSpPr/>
          <p:nvPr/>
        </p:nvSpPr>
        <p:spPr>
          <a:xfrm>
            <a:off x="4663440" y="2697480"/>
            <a:ext cx="4023360" cy="1417320"/>
          </a:xfrm>
          <a:prstGeom prst="roundRect">
            <a:avLst>
              <a:gd name="adj" fmla="val 7742"/>
            </a:avLst>
          </a:prstGeom>
          <a:solidFill>
            <a:schemeClr val="tx2"/>
          </a:solidFill>
          <a:ln w="12700">
            <a:solidFill>
              <a:schemeClr val="tx2"/>
            </a:solidFill>
            <a:prstDash val="solid"/>
          </a:ln>
        </p:spPr>
      </p:sp>
      <p:sp>
        <p:nvSpPr>
          <p:cNvPr id="19" name="Icon circle"/>
          <p:cNvSpPr/>
          <p:nvPr/>
        </p:nvSpPr>
        <p:spPr>
          <a:xfrm>
            <a:off x="4892040" y="3081528"/>
            <a:ext cx="640080" cy="640080"/>
          </a:xfrm>
          <a:prstGeom prst="ellipse">
            <a:avLst/>
          </a:prstGeom>
          <a:solidFill>
            <a:schemeClr val="accent1"/>
          </a:solidFill>
          <a:ln w="12700">
            <a:solidFill>
              <a:schemeClr val="accent1"/>
            </a:solidFill>
            <a:prstDash val="solid"/>
          </a:ln>
        </p:spPr>
      </p:sp>
      <p:pic>
        <p:nvPicPr>
          <p:cNvPr id="20" name="Icon" descr="preencoded.png">    </p:cNvPr>
          <p:cNvPicPr>
            <a:picLocks noChangeAspect="1"/>
          </p:cNvPicPr>
          <p:nvPr/>
        </p:nvPicPr>
        <p:blipFill>
          <a:blip r:embed="rId4"/>
          <a:stretch>
            <a:fillRect/>
          </a:stretch>
        </p:blipFill>
        <p:spPr>
          <a:xfrm>
            <a:off x="5032858" y="3222346"/>
            <a:ext cx="358445" cy="358445"/>
          </a:xfrm>
          <a:prstGeom prst="rect">
            <a:avLst/>
          </a:prstGeom>
        </p:spPr>
      </p:pic>
      <p:sp>
        <p:nvSpPr>
          <p:cNvPr id="21" name="Text 15"/>
          <p:cNvSpPr txBox="1"/>
          <p:nvPr/>
        </p:nvSpPr>
        <p:spPr>
          <a:xfrm>
            <a:off x="5760720" y="2971800"/>
            <a:ext cx="2743200" cy="365760"/>
          </a:xfrm>
          <a:prstGeom prst="rect">
            <a:avLst/>
          </a:prstGeom>
          <a:noFill/>
          <a:ln/>
        </p:spPr>
        <p:txBody>
          <a:bodyPr wrap="square" lIns="0" tIns="0" rIns="0" bIns="0" rtlCol="0" anchor="ctr"/>
          <a:lstStyle/>
          <a:p>
            <a:pPr indent="0" marL="0">
              <a:buNone/>
            </a:pPr>
            <a:r>
              <a:rPr lang="en-US" sz="1800" b="1" dirty="0">
                <a:solidFill>
                  <a:schemeClr val="accent1"/>
                </a:solidFill>
              </a:rPr>
              <a:t>No pork</a:t>
            </a:r>
            <a:endParaRPr lang="en-US" sz="1800" dirty="0"/>
          </a:p>
        </p:txBody>
      </p:sp>
      <p:sp>
        <p:nvSpPr>
          <p:cNvPr id="22" name="Text 16"/>
          <p:cNvSpPr txBox="1"/>
          <p:nvPr/>
        </p:nvSpPr>
        <p:spPr>
          <a:xfrm>
            <a:off x="5760720" y="3355848"/>
            <a:ext cx="2743200" cy="548640"/>
          </a:xfrm>
          <a:prstGeom prst="rect">
            <a:avLst/>
          </a:prstGeom>
          <a:noFill/>
          <a:ln/>
        </p:spPr>
        <p:txBody>
          <a:bodyPr wrap="square" lIns="0" tIns="0" rIns="0" bIns="0" rtlCol="0" anchor="t"/>
          <a:lstStyle/>
          <a:p>
            <a:pPr indent="0" marL="0">
              <a:buNone/>
            </a:pPr>
            <a:r>
              <a:rPr lang="en-US" sz="1400" dirty="0">
                <a:solidFill>
                  <a:schemeClr val="bg1"/>
                </a:solidFill>
              </a:rPr>
              <a:t>No pork products anywhere in the supply chain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Original slide" descr="/tmp/claude-0/-home-user-Odeam/2d716dfa-dede-5887-a88c-08b62616e64c/scratchpad/src/p-09.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accent1"/>
                </a:solidFill>
              </a:rPr>
              <a:t>Two Countries, Two Supply Chains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45920"/>
                <a:gridCol w="3291840"/>
                <a:gridCol w="3291840"/>
              </a:tblGrid>
              <a:tr h="457200">
                <a:tc>
                  <a:txBody>
                    <a:bodyPr/>
                    <a:lstStyle/>
                    <a:p>
                      <a:pPr indent="0" marL="0">
                        <a:buNone/>
                      </a:pPr>
                      <a:r>
                        <a:rPr lang="en-US" sz="1200" b="1" dirty="0">
                          <a:solidFill>
                            <a:schemeClr val="tx1"/>
                          </a:solidFill>
                        </a:rPr>
                        <a:t>Stage</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France</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Saudi Arabia</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accent1"/>
                    </a:solidFill>
                  </a:tcPr>
                </a:tc>
              </a:tr>
              <a:tr h="457200">
                <a:tc>
                  <a:txBody>
                    <a:bodyPr/>
                    <a:lstStyle/>
                    <a:p>
                      <a:pPr indent="0" marL="0">
                        <a:buNone/>
                      </a:pPr>
                      <a:r>
                        <a:rPr lang="en-US" sz="1200" b="1" dirty="0">
                          <a:solidFill>
                            <a:schemeClr val="accent1"/>
                          </a:solidFill>
                        </a:rPr>
                        <a:t>Sourcing</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Mostly French farms: beef, potatoes, wheat, dairy</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c>
                  <a:txBody>
                    <a:bodyPr/>
                    <a:lstStyle/>
                    <a:p>
                      <a:pPr indent="0" marL="0">
                        <a:buNone/>
                      </a:pPr>
                      <a:r>
                        <a:rPr lang="en-US" sz="1200" dirty="0">
                          <a:solidFill>
                            <a:schemeClr val="bg1"/>
                          </a:solidFill>
                        </a:rPr>
                        <a:t>Local plus imported; halal-approved suppliers</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r>
              <a:tr h="457200">
                <a:tc>
                  <a:txBody>
                    <a:bodyPr/>
                    <a:lstStyle/>
                    <a:p>
                      <a:pPr indent="0" marL="0">
                        <a:buNone/>
                      </a:pPr>
                      <a:r>
                        <a:rPr lang="en-US" sz="1200" b="1" dirty="0">
                          <a:solidFill>
                            <a:schemeClr val="accent1"/>
                          </a:solidFill>
                        </a:rPr>
                        <a:t>Key requirement</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Traceability and French origin</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c>
                  <a:txBody>
                    <a:bodyPr/>
                    <a:lstStyle/>
                    <a:p>
                      <a:pPr indent="0" marL="0">
                        <a:buNone/>
                      </a:pPr>
                      <a:r>
                        <a:rPr lang="en-US" sz="1200" dirty="0">
                          <a:solidFill>
                            <a:schemeClr val="bg1"/>
                          </a:solidFill>
                        </a:rPr>
                        <a:t>Halal certification (SFDA rules)</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r>
              <a:tr h="457200">
                <a:tc>
                  <a:txBody>
                    <a:bodyPr/>
                    <a:lstStyle/>
                    <a:p>
                      <a:pPr indent="0" marL="0">
                        <a:buNone/>
                      </a:pPr>
                      <a:r>
                        <a:rPr lang="en-US" sz="1200" b="1" dirty="0">
                          <a:solidFill>
                            <a:schemeClr val="accent1"/>
                          </a:solidFill>
                        </a:rPr>
                        <a:t>Distribution</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Logistics partner serving urban and rural France</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c>
                  <a:txBody>
                    <a:bodyPr/>
                    <a:lstStyle/>
                    <a:p>
                      <a:pPr indent="0" marL="0">
                        <a:buNone/>
                      </a:pPr>
                      <a:r>
                        <a:rPr lang="en-US" sz="1200" dirty="0">
                          <a:solidFill>
                            <a:schemeClr val="bg1"/>
                          </a:solidFill>
                        </a:rPr>
                        <a:t>Regional centres; long distances need a strong cold chain</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r>
              <a:tr h="457200">
                <a:tc>
                  <a:txBody>
                    <a:bodyPr/>
                    <a:lstStyle/>
                    <a:p>
                      <a:pPr indent="0" marL="0">
                        <a:buNone/>
                      </a:pPr>
                      <a:r>
                        <a:rPr lang="en-US" sz="1200" b="1" dirty="0">
                          <a:solidFill>
                            <a:schemeClr val="accent1"/>
                          </a:solidFill>
                        </a:rPr>
                        <a:t>Main risk</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Farm costs and strict environmental rules</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c>
                  <a:txBody>
                    <a:bodyPr/>
                    <a:lstStyle/>
                    <a:p>
                      <a:pPr indent="0" marL="0">
                        <a:buNone/>
                      </a:pPr>
                      <a:r>
                        <a:rPr lang="en-US" sz="1200" dirty="0">
                          <a:solidFill>
                            <a:schemeClr val="bg1"/>
                          </a:solidFill>
                        </a:rPr>
                        <a:t>Import dependence and shipping disruption</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r>
              <a:tr h="457200">
                <a:tc>
                  <a:txBody>
                    <a:bodyPr/>
                    <a:lstStyle/>
                    <a:p>
                      <a:pPr indent="0" marL="0">
                        <a:buNone/>
                      </a:pPr>
                      <a:r>
                        <a:rPr lang="en-US" sz="1200" b="1" dirty="0">
                          <a:solidFill>
                            <a:schemeClr val="accent1"/>
                          </a:solidFill>
                        </a:rPr>
                        <a:t>Focus</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Use local strength for quality</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c>
                  <a:txBody>
                    <a:bodyPr/>
                    <a:lstStyle/>
                    <a:p>
                      <a:pPr indent="0" marL="0">
                        <a:buNone/>
                      </a:pPr>
                      <a:r>
                        <a:rPr lang="en-US" sz="1200" dirty="0">
                          <a:solidFill>
                            <a:schemeClr val="bg1"/>
                          </a:solidFill>
                        </a:rPr>
                        <a:t>Build local suppliers (Vision 2030)</a:t>
                      </a:r>
                      <a:endParaRPr lang="en-US" sz="12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r>
            </a:tbl>
          </a:graphicData>
        </a:graphic>
      </p:graphicFrame>
      <p:sp>
        <p:nvSpPr>
          <p:cNvPr id="4" name="Text 1"/>
          <p:cNvSpPr txBox="1"/>
          <p:nvPr/>
        </p:nvSpPr>
        <p:spPr>
          <a:xfrm>
            <a:off x="457200" y="4069080"/>
            <a:ext cx="8229600" cy="502920"/>
          </a:xfrm>
          <a:prstGeom prst="rect">
            <a:avLst/>
          </a:prstGeom>
          <a:noFill/>
          <a:ln/>
        </p:spPr>
        <p:txBody>
          <a:bodyPr wrap="square" lIns="0" tIns="0" rIns="0" bIns="0" rtlCol="0" anchor="ctr"/>
          <a:lstStyle/>
          <a:p>
            <a:pPr indent="0" marL="0">
              <a:buNone/>
            </a:pPr>
            <a:r>
              <a:rPr lang="en-US" sz="1400" b="1" dirty="0">
                <a:solidFill>
                  <a:schemeClr val="accent1"/>
                </a:solidFill>
              </a:rPr>
              <a:t>Takeaway: </a:t>
            </a:r>
            <a:pPr indent="0" marL="0">
              <a:buNone/>
            </a:pPr>
            <a:r>
              <a:rPr lang="en-US" sz="1400" dirty="0">
                <a:solidFill>
                  <a:schemeClr val="bg1"/>
                </a:solidFill>
              </a:rPr>
              <a:t>France's supply chain is local and mature; Saudi Arabia's is compliance-driven and still localising.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accent1"/>
                </a:solidFill>
              </a:rPr>
              <a:t>How McDonald's Makes Money</a:t>
            </a:r>
            <a:endParaRPr lang="en-US" sz="3000" dirty="0"/>
          </a:p>
        </p:txBody>
      </p:sp>
      <p:sp>
        <p:nvSpPr>
          <p:cNvPr id="3" name="Icon circle"/>
          <p:cNvSpPr/>
          <p:nvPr/>
        </p:nvSpPr>
        <p:spPr>
          <a:xfrm>
            <a:off x="457200" y="1097280"/>
            <a:ext cx="548640" cy="548640"/>
          </a:xfrm>
          <a:prstGeom prst="ellipse">
            <a:avLst/>
          </a:prstGeom>
          <a:solidFill>
            <a:schemeClr val="accent1"/>
          </a:solidFill>
          <a:ln w="12700">
            <a:solidFill>
              <a:schemeClr val="accent1"/>
            </a:solidFill>
            <a:prstDash val="solid"/>
          </a:ln>
        </p:spPr>
      </p:sp>
      <p:pic>
        <p:nvPicPr>
          <p:cNvPr id="4" name="Icon" descr="preencoded.png">    </p:cNvPr>
          <p:cNvPicPr>
            <a:picLocks noChangeAspect="1"/>
          </p:cNvPicPr>
          <p:nvPr/>
        </p:nvPicPr>
        <p:blipFill>
          <a:blip r:embed="rId1"/>
          <a:stretch>
            <a:fillRect/>
          </a:stretch>
        </p:blipFill>
        <p:spPr>
          <a:xfrm>
            <a:off x="577901" y="1217981"/>
            <a:ext cx="307238" cy="307238"/>
          </a:xfrm>
          <a:prstGeom prst="rect">
            <a:avLst/>
          </a:prstGeom>
        </p:spPr>
      </p:pic>
      <p:sp>
        <p:nvSpPr>
          <p:cNvPr id="5" name="Text 2"/>
          <p:cNvSpPr txBox="1"/>
          <p:nvPr/>
        </p:nvSpPr>
        <p:spPr>
          <a:xfrm>
            <a:off x="1143000" y="1051560"/>
            <a:ext cx="2743200" cy="292608"/>
          </a:xfrm>
          <a:prstGeom prst="rect">
            <a:avLst/>
          </a:prstGeom>
          <a:noFill/>
          <a:ln/>
        </p:spPr>
        <p:txBody>
          <a:bodyPr wrap="square" lIns="0" tIns="0" rIns="0" bIns="0" rtlCol="0" anchor="ctr"/>
          <a:lstStyle/>
          <a:p>
            <a:pPr indent="0" marL="0">
              <a:buNone/>
            </a:pPr>
            <a:r>
              <a:rPr lang="en-US" sz="1500" b="1" dirty="0">
                <a:solidFill>
                  <a:schemeClr val="accent1"/>
                </a:solidFill>
              </a:rPr>
              <a:t>Rent</a:t>
            </a:r>
            <a:endParaRPr lang="en-US" sz="1500" dirty="0"/>
          </a:p>
        </p:txBody>
      </p:sp>
      <p:sp>
        <p:nvSpPr>
          <p:cNvPr id="6" name="Text 3"/>
          <p:cNvSpPr txBox="1"/>
          <p:nvPr/>
        </p:nvSpPr>
        <p:spPr>
          <a:xfrm>
            <a:off x="1143000" y="1353312"/>
            <a:ext cx="2743200" cy="457200"/>
          </a:xfrm>
          <a:prstGeom prst="rect">
            <a:avLst/>
          </a:prstGeom>
          <a:noFill/>
          <a:ln/>
        </p:spPr>
        <p:txBody>
          <a:bodyPr wrap="square" lIns="0" tIns="0" rIns="0" bIns="0" rtlCol="0" anchor="t"/>
          <a:lstStyle/>
          <a:p>
            <a:pPr indent="0" marL="0">
              <a:buNone/>
            </a:pPr>
            <a:r>
              <a:rPr lang="en-US" sz="1200" dirty="0">
                <a:solidFill>
                  <a:schemeClr val="bg1"/>
                </a:solidFill>
              </a:rPr>
              <a:t>Charges franchisees rent on property it owns or leases</a:t>
            </a:r>
            <a:endParaRPr lang="en-US" sz="1200" dirty="0"/>
          </a:p>
        </p:txBody>
      </p:sp>
      <p:sp>
        <p:nvSpPr>
          <p:cNvPr id="7" name="Icon circle"/>
          <p:cNvSpPr/>
          <p:nvPr/>
        </p:nvSpPr>
        <p:spPr>
          <a:xfrm>
            <a:off x="457200" y="1965960"/>
            <a:ext cx="548640" cy="548640"/>
          </a:xfrm>
          <a:prstGeom prst="ellipse">
            <a:avLst/>
          </a:prstGeom>
          <a:solidFill>
            <a:schemeClr val="accent1"/>
          </a:solidFill>
          <a:ln w="12700">
            <a:solidFill>
              <a:schemeClr val="accent1"/>
            </a:solidFill>
            <a:prstDash val="solid"/>
          </a:ln>
        </p:spPr>
      </p:sp>
      <p:pic>
        <p:nvPicPr>
          <p:cNvPr id="8" name="Icon" descr="preencoded.png">    </p:cNvPr>
          <p:cNvPicPr>
            <a:picLocks noChangeAspect="1"/>
          </p:cNvPicPr>
          <p:nvPr/>
        </p:nvPicPr>
        <p:blipFill>
          <a:blip r:embed="rId2"/>
          <a:stretch>
            <a:fillRect/>
          </a:stretch>
        </p:blipFill>
        <p:spPr>
          <a:xfrm>
            <a:off x="577901" y="2086661"/>
            <a:ext cx="307238" cy="307238"/>
          </a:xfrm>
          <a:prstGeom prst="rect">
            <a:avLst/>
          </a:prstGeom>
        </p:spPr>
      </p:pic>
      <p:sp>
        <p:nvSpPr>
          <p:cNvPr id="9" name="Text 5"/>
          <p:cNvSpPr txBox="1"/>
          <p:nvPr/>
        </p:nvSpPr>
        <p:spPr>
          <a:xfrm>
            <a:off x="1143000" y="1920240"/>
            <a:ext cx="2743200" cy="292608"/>
          </a:xfrm>
          <a:prstGeom prst="rect">
            <a:avLst/>
          </a:prstGeom>
          <a:noFill/>
          <a:ln/>
        </p:spPr>
        <p:txBody>
          <a:bodyPr wrap="square" lIns="0" tIns="0" rIns="0" bIns="0" rtlCol="0" anchor="ctr"/>
          <a:lstStyle/>
          <a:p>
            <a:pPr indent="0" marL="0">
              <a:buNone/>
            </a:pPr>
            <a:r>
              <a:rPr lang="en-US" sz="1500" b="1" dirty="0">
                <a:solidFill>
                  <a:schemeClr val="accent1"/>
                </a:solidFill>
              </a:rPr>
              <a:t>Royalties</a:t>
            </a:r>
            <a:endParaRPr lang="en-US" sz="1500" dirty="0"/>
          </a:p>
        </p:txBody>
      </p:sp>
      <p:sp>
        <p:nvSpPr>
          <p:cNvPr id="10" name="Text 6"/>
          <p:cNvSpPr txBox="1"/>
          <p:nvPr/>
        </p:nvSpPr>
        <p:spPr>
          <a:xfrm>
            <a:off x="1143000" y="2221992"/>
            <a:ext cx="2743200" cy="457200"/>
          </a:xfrm>
          <a:prstGeom prst="rect">
            <a:avLst/>
          </a:prstGeom>
          <a:noFill/>
          <a:ln/>
        </p:spPr>
        <p:txBody>
          <a:bodyPr wrap="square" lIns="0" tIns="0" rIns="0" bIns="0" rtlCol="0" anchor="t"/>
          <a:lstStyle/>
          <a:p>
            <a:pPr indent="0" marL="0">
              <a:buNone/>
            </a:pPr>
            <a:r>
              <a:rPr lang="en-US" sz="1200" dirty="0">
                <a:solidFill>
                  <a:schemeClr val="bg1"/>
                </a:solidFill>
              </a:rPr>
              <a:t>A share of franchisee sales (about 4–5%)</a:t>
            </a:r>
            <a:endParaRPr lang="en-US" sz="1200" dirty="0"/>
          </a:p>
        </p:txBody>
      </p:sp>
      <p:sp>
        <p:nvSpPr>
          <p:cNvPr id="11" name="Icon circle"/>
          <p:cNvSpPr/>
          <p:nvPr/>
        </p:nvSpPr>
        <p:spPr>
          <a:xfrm>
            <a:off x="457200" y="2834640"/>
            <a:ext cx="548640" cy="548640"/>
          </a:xfrm>
          <a:prstGeom prst="ellipse">
            <a:avLst/>
          </a:prstGeom>
          <a:solidFill>
            <a:schemeClr val="accent1"/>
          </a:solidFill>
          <a:ln w="12700">
            <a:solidFill>
              <a:schemeClr val="accent1"/>
            </a:solidFill>
            <a:prstDash val="solid"/>
          </a:ln>
        </p:spPr>
      </p:sp>
      <p:pic>
        <p:nvPicPr>
          <p:cNvPr id="12" name="Icon" descr="preencoded.png">    </p:cNvPr>
          <p:cNvPicPr>
            <a:picLocks noChangeAspect="1"/>
          </p:cNvPicPr>
          <p:nvPr/>
        </p:nvPicPr>
        <p:blipFill>
          <a:blip r:embed="rId3"/>
          <a:stretch>
            <a:fillRect/>
          </a:stretch>
        </p:blipFill>
        <p:spPr>
          <a:xfrm>
            <a:off x="577901" y="2955341"/>
            <a:ext cx="307238" cy="307238"/>
          </a:xfrm>
          <a:prstGeom prst="rect">
            <a:avLst/>
          </a:prstGeom>
        </p:spPr>
      </p:pic>
      <p:sp>
        <p:nvSpPr>
          <p:cNvPr id="13" name="Text 8"/>
          <p:cNvSpPr txBox="1"/>
          <p:nvPr/>
        </p:nvSpPr>
        <p:spPr>
          <a:xfrm>
            <a:off x="1143000" y="2788920"/>
            <a:ext cx="2743200" cy="292608"/>
          </a:xfrm>
          <a:prstGeom prst="rect">
            <a:avLst/>
          </a:prstGeom>
          <a:noFill/>
          <a:ln/>
        </p:spPr>
        <p:txBody>
          <a:bodyPr wrap="square" lIns="0" tIns="0" rIns="0" bIns="0" rtlCol="0" anchor="ctr"/>
          <a:lstStyle/>
          <a:p>
            <a:pPr indent="0" marL="0">
              <a:buNone/>
            </a:pPr>
            <a:r>
              <a:rPr lang="en-US" sz="1500" b="1" dirty="0">
                <a:solidFill>
                  <a:schemeClr val="accent1"/>
                </a:solidFill>
              </a:rPr>
              <a:t>Initial fees</a:t>
            </a:r>
            <a:endParaRPr lang="en-US" sz="1500" dirty="0"/>
          </a:p>
        </p:txBody>
      </p:sp>
      <p:sp>
        <p:nvSpPr>
          <p:cNvPr id="14" name="Text 9"/>
          <p:cNvSpPr txBox="1"/>
          <p:nvPr/>
        </p:nvSpPr>
        <p:spPr>
          <a:xfrm>
            <a:off x="1143000" y="3090672"/>
            <a:ext cx="2743200" cy="457200"/>
          </a:xfrm>
          <a:prstGeom prst="rect">
            <a:avLst/>
          </a:prstGeom>
          <a:noFill/>
          <a:ln/>
        </p:spPr>
        <p:txBody>
          <a:bodyPr wrap="square" lIns="0" tIns="0" rIns="0" bIns="0" rtlCol="0" anchor="t"/>
          <a:lstStyle/>
          <a:p>
            <a:pPr indent="0" marL="0">
              <a:buNone/>
            </a:pPr>
            <a:r>
              <a:rPr lang="en-US" sz="1200" dirty="0">
                <a:solidFill>
                  <a:schemeClr val="bg1"/>
                </a:solidFill>
              </a:rPr>
              <a:t>One-off fee when a restaurant opens</a:t>
            </a:r>
            <a:endParaRPr lang="en-US" sz="1200" dirty="0"/>
          </a:p>
        </p:txBody>
      </p:sp>
      <p:sp>
        <p:nvSpPr>
          <p:cNvPr id="15" name="Icon circle"/>
          <p:cNvSpPr/>
          <p:nvPr/>
        </p:nvSpPr>
        <p:spPr>
          <a:xfrm>
            <a:off x="457200" y="3703320"/>
            <a:ext cx="548640" cy="548640"/>
          </a:xfrm>
          <a:prstGeom prst="ellipse">
            <a:avLst/>
          </a:prstGeom>
          <a:solidFill>
            <a:schemeClr val="accent1"/>
          </a:solidFill>
          <a:ln w="12700">
            <a:solidFill>
              <a:schemeClr val="accent1"/>
            </a:solidFill>
            <a:prstDash val="solid"/>
          </a:ln>
        </p:spPr>
      </p:sp>
      <p:pic>
        <p:nvPicPr>
          <p:cNvPr id="16" name="Icon" descr="preencoded.png">    </p:cNvPr>
          <p:cNvPicPr>
            <a:picLocks noChangeAspect="1"/>
          </p:cNvPicPr>
          <p:nvPr/>
        </p:nvPicPr>
        <p:blipFill>
          <a:blip r:embed="rId4"/>
          <a:stretch>
            <a:fillRect/>
          </a:stretch>
        </p:blipFill>
        <p:spPr>
          <a:xfrm>
            <a:off x="577901" y="3824021"/>
            <a:ext cx="307238" cy="307238"/>
          </a:xfrm>
          <a:prstGeom prst="rect">
            <a:avLst/>
          </a:prstGeom>
        </p:spPr>
      </p:pic>
      <p:sp>
        <p:nvSpPr>
          <p:cNvPr id="17" name="Text 11"/>
          <p:cNvSpPr txBox="1"/>
          <p:nvPr/>
        </p:nvSpPr>
        <p:spPr>
          <a:xfrm>
            <a:off x="1143000" y="3657600"/>
            <a:ext cx="2743200" cy="292608"/>
          </a:xfrm>
          <a:prstGeom prst="rect">
            <a:avLst/>
          </a:prstGeom>
          <a:noFill/>
          <a:ln/>
        </p:spPr>
        <p:txBody>
          <a:bodyPr wrap="square" lIns="0" tIns="0" rIns="0" bIns="0" rtlCol="0" anchor="ctr"/>
          <a:lstStyle/>
          <a:p>
            <a:pPr indent="0" marL="0">
              <a:buNone/>
            </a:pPr>
            <a:r>
              <a:rPr lang="en-US" sz="1500" b="1" dirty="0">
                <a:solidFill>
                  <a:schemeClr val="accent1"/>
                </a:solidFill>
              </a:rPr>
              <a:t>Company sales</a:t>
            </a:r>
            <a:endParaRPr lang="en-US" sz="1500" dirty="0"/>
          </a:p>
        </p:txBody>
      </p:sp>
      <p:sp>
        <p:nvSpPr>
          <p:cNvPr id="18" name="Text 12"/>
          <p:cNvSpPr txBox="1"/>
          <p:nvPr/>
        </p:nvSpPr>
        <p:spPr>
          <a:xfrm>
            <a:off x="1143000" y="3959352"/>
            <a:ext cx="2743200" cy="457200"/>
          </a:xfrm>
          <a:prstGeom prst="rect">
            <a:avLst/>
          </a:prstGeom>
          <a:noFill/>
          <a:ln/>
        </p:spPr>
        <p:txBody>
          <a:bodyPr wrap="square" lIns="0" tIns="0" rIns="0" bIns="0" rtlCol="0" anchor="t"/>
          <a:lstStyle/>
          <a:p>
            <a:pPr indent="0" marL="0">
              <a:buNone/>
            </a:pPr>
            <a:r>
              <a:rPr lang="en-US" sz="1200" dirty="0">
                <a:solidFill>
                  <a:schemeClr val="bg1"/>
                </a:solidFill>
              </a:rPr>
              <a:t>Full revenue from restaurants it runs itself</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206240" y="1097280"/>
          <a:ext cx="4480560" cy="914400"/>
        </p:xfrm>
        <a:graphic>
          <a:graphicData uri="http://schemas.openxmlformats.org/drawingml/2006/table">
            <a:tbl>
              <a:tblPr/>
              <a:tblGrid>
                <a:gridCol w="914400"/>
                <a:gridCol w="1783080"/>
                <a:gridCol w="1783080"/>
              </a:tblGrid>
              <a:tr h="685800">
                <a:tc>
                  <a:txBody>
                    <a:bodyPr/>
                    <a:lstStyle/>
                    <a:p>
                      <a:pPr indent="0" marL="0">
                        <a:buNone/>
                      </a:pP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tx1"/>
                          </a:solidFill>
                        </a:rPr>
                        <a:t>France</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tx1"/>
                          </a:solidFill>
                        </a:rPr>
                        <a:t>Saudi Arabia</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accent1"/>
                    </a:solidFill>
                  </a:tcPr>
                </a:tc>
              </a:tr>
              <a:tr h="685800">
                <a:tc>
                  <a:txBody>
                    <a:bodyPr/>
                    <a:lstStyle/>
                    <a:p>
                      <a:pPr indent="0" marL="0">
                        <a:buNone/>
                      </a:pPr>
                      <a:r>
                        <a:rPr lang="en-US" sz="1300" b="1" dirty="0">
                          <a:solidFill>
                            <a:schemeClr val="accent1"/>
                          </a:solidFill>
                        </a:rPr>
                        <a:t>Model</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Conventional franchising</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c>
                  <a:txBody>
                    <a:bodyPr/>
                    <a:lstStyle/>
                    <a:p>
                      <a:pPr indent="0" marL="0">
                        <a:buNone/>
                      </a:pPr>
                      <a:r>
                        <a:rPr lang="en-US" sz="1300" dirty="0">
                          <a:solidFill>
                            <a:schemeClr val="bg1"/>
                          </a:solidFill>
                        </a:rPr>
                        <a:t>Developmental licence</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r>
              <a:tr h="685800">
                <a:tc>
                  <a:txBody>
                    <a:bodyPr/>
                    <a:lstStyle/>
                    <a:p>
                      <a:pPr indent="0" marL="0">
                        <a:buNone/>
                      </a:pPr>
                      <a:r>
                        <a:rPr lang="en-US" sz="1300" b="1" dirty="0">
                          <a:solidFill>
                            <a:schemeClr val="accent1"/>
                          </a:solidFill>
                        </a:rPr>
                        <a:t>Earns</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Rent + royalties + fees</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c>
                  <a:txBody>
                    <a:bodyPr/>
                    <a:lstStyle/>
                    <a:p>
                      <a:pPr indent="0" marL="0">
                        <a:buNone/>
                      </a:pPr>
                      <a:r>
                        <a:rPr lang="en-US" sz="1300" dirty="0">
                          <a:solidFill>
                            <a:schemeClr val="bg1"/>
                          </a:solidFill>
                        </a:rPr>
                        <a:t>Mainly royalties</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r>
              <a:tr h="685800">
                <a:tc>
                  <a:txBody>
                    <a:bodyPr/>
                    <a:lstStyle/>
                    <a:p>
                      <a:pPr indent="0" marL="0">
                        <a:buNone/>
                      </a:pPr>
                      <a:r>
                        <a:rPr lang="en-US" sz="1300" b="1" dirty="0">
                          <a:solidFill>
                            <a:schemeClr val="accent1"/>
                          </a:solidFill>
                        </a:rPr>
                        <a:t>Risk</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Higher investment, more control</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c>
                  <a:txBody>
                    <a:bodyPr/>
                    <a:lstStyle/>
                    <a:p>
                      <a:pPr indent="0" marL="0">
                        <a:buNone/>
                      </a:pPr>
                      <a:r>
                        <a:rPr lang="en-US" sz="1300" dirty="0">
                          <a:solidFill>
                            <a:schemeClr val="bg1"/>
                          </a:solidFill>
                        </a:rPr>
                        <a:t>Lower investment, less control</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r>
            </a:tbl>
          </a:graphicData>
        </a:graphic>
      </p:graphicFrame>
      <p:sp>
        <p:nvSpPr>
          <p:cNvPr id="20" name="Text 13"/>
          <p:cNvSpPr txBox="1"/>
          <p:nvPr/>
        </p:nvSpPr>
        <p:spPr>
          <a:xfrm>
            <a:off x="4206240" y="4023360"/>
            <a:ext cx="4480560" cy="274320"/>
          </a:xfrm>
          <a:prstGeom prst="rect">
            <a:avLst/>
          </a:prstGeom>
          <a:noFill/>
          <a:ln/>
        </p:spPr>
        <p:txBody>
          <a:bodyPr wrap="square" lIns="0" tIns="0" rIns="0" bIns="0" rtlCol="0" anchor="ctr"/>
          <a:lstStyle/>
          <a:p>
            <a:pPr indent="0" marL="0">
              <a:buNone/>
            </a:pPr>
            <a:r>
              <a:rPr lang="en-US" sz="1000" i="1" dirty="0">
                <a:solidFill>
                  <a:schemeClr val="accent2"/>
                </a:solidFill>
              </a:rPr>
              <a:t>Royalty rate approximate: verify in the Annual Report.</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accent1"/>
                </a:solidFill>
              </a:rPr>
              <a:t>Marketing in Two Markets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45920"/>
                <a:gridCol w="3291840"/>
                <a:gridCol w="3291840"/>
              </a:tblGrid>
              <a:tr h="548640">
                <a:tc>
                  <a:txBody>
                    <a:bodyPr/>
                    <a:lstStyle/>
                    <a:p>
                      <a:pPr indent="0" marL="0">
                        <a:buNone/>
                      </a:pPr>
                      <a:r>
                        <a:rPr lang="en-US" sz="1300" b="1" dirty="0">
                          <a:solidFill>
                            <a:schemeClr val="tx1"/>
                          </a:solidFill>
                        </a:rPr>
                        <a:t>Element</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tx1"/>
                          </a:solidFill>
                        </a:rPr>
                        <a:t>France</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tx1"/>
                          </a:solidFill>
                        </a:rPr>
                        <a:t>Saudi Arabia</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accent1"/>
                    </a:solidFill>
                  </a:tcPr>
                </a:tc>
              </a:tr>
              <a:tr h="548640">
                <a:tc>
                  <a:txBody>
                    <a:bodyPr/>
                    <a:lstStyle/>
                    <a:p>
                      <a:pPr indent="0" marL="0">
                        <a:buNone/>
                      </a:pPr>
                      <a:r>
                        <a:rPr lang="en-US" sz="1300" b="1" dirty="0">
                          <a:solidFill>
                            <a:schemeClr val="accent1"/>
                          </a:solidFill>
                        </a:rPr>
                        <a:t>Positioning</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Quality, local sourcing, French ingredients</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c>
                  <a:txBody>
                    <a:bodyPr/>
                    <a:lstStyle/>
                    <a:p>
                      <a:pPr indent="0" marL="0">
                        <a:buNone/>
                      </a:pPr>
                      <a:r>
                        <a:rPr lang="en-US" sz="1300" dirty="0">
                          <a:solidFill>
                            <a:schemeClr val="bg1"/>
                          </a:solidFill>
                        </a:rPr>
                        <a:t>Family, value, convenience</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r>
              <a:tr h="548640">
                <a:tc>
                  <a:txBody>
                    <a:bodyPr/>
                    <a:lstStyle/>
                    <a:p>
                      <a:pPr indent="0" marL="0">
                        <a:buNone/>
                      </a:pPr>
                      <a:r>
                        <a:rPr lang="en-US" sz="1300" b="1" dirty="0">
                          <a:solidFill>
                            <a:schemeClr val="accent1"/>
                          </a:solidFill>
                        </a:rPr>
                        <a:t>Language</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French; nickname "McDo"</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c>
                  <a:txBody>
                    <a:bodyPr/>
                    <a:lstStyle/>
                    <a:p>
                      <a:pPr indent="0" marL="0">
                        <a:buNone/>
                      </a:pPr>
                      <a:r>
                        <a:rPr lang="en-US" sz="1300" dirty="0">
                          <a:solidFill>
                            <a:schemeClr val="bg1"/>
                          </a:solidFill>
                        </a:rPr>
                        <a:t>Arabic and English</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r>
              <a:tr h="548640">
                <a:tc>
                  <a:txBody>
                    <a:bodyPr/>
                    <a:lstStyle/>
                    <a:p>
                      <a:pPr indent="0" marL="0">
                        <a:buNone/>
                      </a:pPr>
                      <a:r>
                        <a:rPr lang="en-US" sz="1300" b="1" dirty="0">
                          <a:solidFill>
                            <a:schemeClr val="accent1"/>
                          </a:solidFill>
                        </a:rPr>
                        <a:t>Key moments</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Seasonal menus, McCafé pastries</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c>
                  <a:txBody>
                    <a:bodyPr/>
                    <a:lstStyle/>
                    <a:p>
                      <a:pPr indent="0" marL="0">
                        <a:buNone/>
                      </a:pPr>
                      <a:r>
                        <a:rPr lang="en-US" sz="1300" dirty="0">
                          <a:solidFill>
                            <a:schemeClr val="bg1"/>
                          </a:solidFill>
                        </a:rPr>
                        <a:t>Ramadan campaigns, national day offers</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r>
              <a:tr h="548640">
                <a:tc>
                  <a:txBody>
                    <a:bodyPr/>
                    <a:lstStyle/>
                    <a:p>
                      <a:pPr indent="0" marL="0">
                        <a:buNone/>
                      </a:pPr>
                      <a:r>
                        <a:rPr lang="en-US" sz="1300" b="1" dirty="0">
                          <a:solidFill>
                            <a:schemeClr val="accent1"/>
                          </a:solidFill>
                        </a:rPr>
                        <a:t>Digital</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App, loyalty rewards, delivery partners</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c>
                  <a:txBody>
                    <a:bodyPr/>
                    <a:lstStyle/>
                    <a:p>
                      <a:pPr indent="0" marL="0">
                        <a:buNone/>
                      </a:pPr>
                      <a:r>
                        <a:rPr lang="en-US" sz="1300" dirty="0">
                          <a:solidFill>
                            <a:schemeClr val="bg1"/>
                          </a:solidFill>
                        </a:rPr>
                        <a:t>App, delivery apps (HungerStation, Jahez)</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r>
              <a:tr h="548640">
                <a:tc>
                  <a:txBody>
                    <a:bodyPr/>
                    <a:lstStyle/>
                    <a:p>
                      <a:pPr indent="0" marL="0">
                        <a:buNone/>
                      </a:pPr>
                      <a:r>
                        <a:rPr lang="en-US" sz="1300" b="1" dirty="0">
                          <a:solidFill>
                            <a:schemeClr val="accent1"/>
                          </a:solidFill>
                        </a:rPr>
                        <a:t>Challenge</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Anti-globalisation feeling (1999 Millau protest)</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c>
                  <a:txBody>
                    <a:bodyPr/>
                    <a:lstStyle/>
                    <a:p>
                      <a:pPr indent="0" marL="0">
                        <a:buNone/>
                      </a:pPr>
                      <a:r>
                        <a:rPr lang="en-US" sz="1300" dirty="0">
                          <a:solidFill>
                            <a:schemeClr val="bg1"/>
                          </a:solidFill>
                        </a:rPr>
                        <a:t>Fast-growing QSR competition</a:t>
                      </a:r>
                      <a:endParaRPr lang="en-US" sz="1300" dirty="0"/>
                    </a:p>
                  </a:txBody>
                  <a:tcPr marL="54864" marR="54864" marT="54864" marB="54864" anchor="ctr">
                    <a:lnL w="9525" cap="flat" cmpd="sng" algn="ctr">
                      <a:solidFill>
                        <a:srgbClr val="8A3A2E"/>
                      </a:solidFill>
                      <a:prstDash val="solid"/>
                      <a:round/>
                      <a:headEnd type="none" w="med" len="med"/>
                      <a:tailEnd type="none" w="med" len="med"/>
                    </a:lnL>
                    <a:lnR w="9525" cap="flat" cmpd="sng" algn="ctr">
                      <a:solidFill>
                        <a:srgbClr val="8A3A2E"/>
                      </a:solidFill>
                      <a:prstDash val="solid"/>
                      <a:round/>
                      <a:headEnd type="none" w="med" len="med"/>
                      <a:tailEnd type="none" w="med" len="med"/>
                    </a:lnR>
                    <a:lnT w="9525" cap="flat" cmpd="sng" algn="ctr">
                      <a:solidFill>
                        <a:srgbClr val="8A3A2E"/>
                      </a:solidFill>
                      <a:prstDash val="solid"/>
                      <a:round/>
                      <a:headEnd type="none" w="med" len="med"/>
                      <a:tailEnd type="none" w="med" len="med"/>
                    </a:lnT>
                    <a:lnB w="9525" cap="flat" cmpd="sng" algn="ctr">
                      <a:solidFill>
                        <a:srgbClr val="8A3A2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accent1"/>
                </a:solidFill>
              </a:rPr>
              <a:t>Operations: The McDonald's System</a:t>
            </a:r>
            <a:endParaRPr lang="en-US" sz="3000" dirty="0"/>
          </a:p>
        </p:txBody>
      </p:sp>
      <p:sp>
        <p:nvSpPr>
          <p:cNvPr id="3" name="Operations card"/>
          <p:cNvSpPr/>
          <p:nvPr/>
        </p:nvSpPr>
        <p:spPr>
          <a:xfrm>
            <a:off x="457200" y="1097280"/>
            <a:ext cx="4023360" cy="1508760"/>
          </a:xfrm>
          <a:prstGeom prst="roundRect">
            <a:avLst>
              <a:gd name="adj" fmla="val 7273"/>
            </a:avLst>
          </a:prstGeom>
          <a:solidFill>
            <a:schemeClr val="tx2"/>
          </a:solidFill>
          <a:ln w="12700">
            <a:solidFill>
              <a:schemeClr val="tx2"/>
            </a:solidFill>
            <a:prstDash val="solid"/>
          </a:ln>
        </p:spPr>
      </p:sp>
      <p:sp>
        <p:nvSpPr>
          <p:cNvPr id="4" name="Icon circle"/>
          <p:cNvSpPr/>
          <p:nvPr/>
        </p:nvSpPr>
        <p:spPr>
          <a:xfrm>
            <a:off x="685800" y="1527048"/>
            <a:ext cx="640080" cy="64008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826618" y="1667866"/>
            <a:ext cx="358445" cy="358445"/>
          </a:xfrm>
          <a:prstGeom prst="rect">
            <a:avLst/>
          </a:prstGeom>
        </p:spPr>
      </p:pic>
      <p:sp>
        <p:nvSpPr>
          <p:cNvPr id="6" name="Text 3"/>
          <p:cNvSpPr txBox="1"/>
          <p:nvPr/>
        </p:nvSpPr>
        <p:spPr>
          <a:xfrm>
            <a:off x="1554480" y="1298448"/>
            <a:ext cx="2743200" cy="365760"/>
          </a:xfrm>
          <a:prstGeom prst="rect">
            <a:avLst/>
          </a:prstGeom>
          <a:noFill/>
          <a:ln/>
        </p:spPr>
        <p:txBody>
          <a:bodyPr wrap="square" lIns="0" tIns="0" rIns="0" bIns="0" rtlCol="0" anchor="ctr"/>
          <a:lstStyle/>
          <a:p>
            <a:pPr indent="0" marL="0">
              <a:buNone/>
            </a:pPr>
            <a:r>
              <a:rPr lang="en-US" sz="1600" b="1" dirty="0">
                <a:solidFill>
                  <a:schemeClr val="accent1"/>
                </a:solidFill>
              </a:rPr>
              <a:t>Standard kitchen workflow</a:t>
            </a:r>
            <a:endParaRPr lang="en-US" sz="1600" dirty="0"/>
          </a:p>
        </p:txBody>
      </p:sp>
      <p:sp>
        <p:nvSpPr>
          <p:cNvPr id="7" name="Text 4"/>
          <p:cNvSpPr txBox="1"/>
          <p:nvPr/>
        </p:nvSpPr>
        <p:spPr>
          <a:xfrm>
            <a:off x="1554480" y="1682496"/>
            <a:ext cx="2743200" cy="777240"/>
          </a:xfrm>
          <a:prstGeom prst="rect">
            <a:avLst/>
          </a:prstGeom>
          <a:noFill/>
          <a:ln/>
        </p:spPr>
        <p:txBody>
          <a:bodyPr wrap="square" lIns="0" tIns="0" rIns="0" bIns="0" rtlCol="0" anchor="t"/>
          <a:lstStyle/>
          <a:p>
            <a:pPr indent="0" marL="0">
              <a:buNone/>
            </a:pPr>
            <a:r>
              <a:rPr lang="en-US" sz="1300" dirty="0">
                <a:solidFill>
                  <a:schemeClr val="bg1"/>
                </a:solidFill>
              </a:rPr>
              <a:t>"Made for You" assembles food when ordered, with fixed cooking times</a:t>
            </a:r>
            <a:endParaRPr lang="en-US" sz="1300" dirty="0"/>
          </a:p>
        </p:txBody>
      </p:sp>
      <p:sp>
        <p:nvSpPr>
          <p:cNvPr id="8" name="Operations card"/>
          <p:cNvSpPr/>
          <p:nvPr/>
        </p:nvSpPr>
        <p:spPr>
          <a:xfrm>
            <a:off x="4663440" y="1097280"/>
            <a:ext cx="4023360" cy="1508760"/>
          </a:xfrm>
          <a:prstGeom prst="roundRect">
            <a:avLst>
              <a:gd name="adj" fmla="val 7273"/>
            </a:avLst>
          </a:prstGeom>
          <a:solidFill>
            <a:schemeClr val="tx2"/>
          </a:solidFill>
          <a:ln w="12700">
            <a:solidFill>
              <a:schemeClr val="tx2"/>
            </a:solidFill>
            <a:prstDash val="solid"/>
          </a:ln>
        </p:spPr>
      </p:sp>
      <p:sp>
        <p:nvSpPr>
          <p:cNvPr id="9" name="Icon circle"/>
          <p:cNvSpPr/>
          <p:nvPr/>
        </p:nvSpPr>
        <p:spPr>
          <a:xfrm>
            <a:off x="4892040" y="1527048"/>
            <a:ext cx="640080" cy="64008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5032858" y="1667866"/>
            <a:ext cx="358445" cy="358445"/>
          </a:xfrm>
          <a:prstGeom prst="rect">
            <a:avLst/>
          </a:prstGeom>
        </p:spPr>
      </p:pic>
      <p:sp>
        <p:nvSpPr>
          <p:cNvPr id="11" name="Text 7"/>
          <p:cNvSpPr txBox="1"/>
          <p:nvPr/>
        </p:nvSpPr>
        <p:spPr>
          <a:xfrm>
            <a:off x="5760720" y="1298448"/>
            <a:ext cx="2743200" cy="365760"/>
          </a:xfrm>
          <a:prstGeom prst="rect">
            <a:avLst/>
          </a:prstGeom>
          <a:noFill/>
          <a:ln/>
        </p:spPr>
        <p:txBody>
          <a:bodyPr wrap="square" lIns="0" tIns="0" rIns="0" bIns="0" rtlCol="0" anchor="ctr"/>
          <a:lstStyle/>
          <a:p>
            <a:pPr indent="0" marL="0">
              <a:buNone/>
            </a:pPr>
            <a:r>
              <a:rPr lang="en-US" sz="1600" b="1" dirty="0">
                <a:solidFill>
                  <a:schemeClr val="accent1"/>
                </a:solidFill>
              </a:rPr>
              <a:t>Training</a:t>
            </a:r>
            <a:endParaRPr lang="en-US" sz="1600" dirty="0"/>
          </a:p>
        </p:txBody>
      </p:sp>
      <p:sp>
        <p:nvSpPr>
          <p:cNvPr id="12" name="Text 8"/>
          <p:cNvSpPr txBox="1"/>
          <p:nvPr/>
        </p:nvSpPr>
        <p:spPr>
          <a:xfrm>
            <a:off x="5760720" y="1682496"/>
            <a:ext cx="2743200" cy="777240"/>
          </a:xfrm>
          <a:prstGeom prst="rect">
            <a:avLst/>
          </a:prstGeom>
          <a:noFill/>
          <a:ln/>
        </p:spPr>
        <p:txBody>
          <a:bodyPr wrap="square" lIns="0" tIns="0" rIns="0" bIns="0" rtlCol="0" anchor="t"/>
          <a:lstStyle/>
          <a:p>
            <a:pPr indent="0" marL="0">
              <a:buNone/>
            </a:pPr>
            <a:r>
              <a:rPr lang="en-US" sz="1300" dirty="0">
                <a:solidFill>
                  <a:schemeClr val="bg1"/>
                </a:solidFill>
              </a:rPr>
              <a:t>Hamburger University and local training; same service standards worldwide</a:t>
            </a:r>
            <a:endParaRPr lang="en-US" sz="1300" dirty="0"/>
          </a:p>
        </p:txBody>
      </p:sp>
      <p:sp>
        <p:nvSpPr>
          <p:cNvPr id="13" name="Operations card"/>
          <p:cNvSpPr/>
          <p:nvPr/>
        </p:nvSpPr>
        <p:spPr>
          <a:xfrm>
            <a:off x="457200" y="2788920"/>
            <a:ext cx="4023360" cy="1508760"/>
          </a:xfrm>
          <a:prstGeom prst="roundRect">
            <a:avLst>
              <a:gd name="adj" fmla="val 7273"/>
            </a:avLst>
          </a:prstGeom>
          <a:solidFill>
            <a:schemeClr val="tx2"/>
          </a:solidFill>
          <a:ln w="12700">
            <a:solidFill>
              <a:schemeClr val="tx2"/>
            </a:solidFill>
            <a:prstDash val="solid"/>
          </a:ln>
        </p:spPr>
      </p:sp>
      <p:sp>
        <p:nvSpPr>
          <p:cNvPr id="14" name="Icon circle"/>
          <p:cNvSpPr/>
          <p:nvPr/>
        </p:nvSpPr>
        <p:spPr>
          <a:xfrm>
            <a:off x="685800" y="3218688"/>
            <a:ext cx="640080" cy="640080"/>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826618" y="3359506"/>
            <a:ext cx="358445" cy="358445"/>
          </a:xfrm>
          <a:prstGeom prst="rect">
            <a:avLst/>
          </a:prstGeom>
        </p:spPr>
      </p:pic>
      <p:sp>
        <p:nvSpPr>
          <p:cNvPr id="16" name="Text 11"/>
          <p:cNvSpPr txBox="1"/>
          <p:nvPr/>
        </p:nvSpPr>
        <p:spPr>
          <a:xfrm>
            <a:off x="1554480" y="2990088"/>
            <a:ext cx="2743200" cy="365760"/>
          </a:xfrm>
          <a:prstGeom prst="rect">
            <a:avLst/>
          </a:prstGeom>
          <a:noFill/>
          <a:ln/>
        </p:spPr>
        <p:txBody>
          <a:bodyPr wrap="square" lIns="0" tIns="0" rIns="0" bIns="0" rtlCol="0" anchor="ctr"/>
          <a:lstStyle/>
          <a:p>
            <a:pPr indent="0" marL="0">
              <a:buNone/>
            </a:pPr>
            <a:r>
              <a:rPr lang="en-US" sz="1600" b="1" dirty="0">
                <a:solidFill>
                  <a:schemeClr val="accent1"/>
                </a:solidFill>
              </a:rPr>
              <a:t>Quality and food safety</a:t>
            </a:r>
            <a:endParaRPr lang="en-US" sz="1600" dirty="0"/>
          </a:p>
        </p:txBody>
      </p:sp>
      <p:sp>
        <p:nvSpPr>
          <p:cNvPr id="17" name="Text 12"/>
          <p:cNvSpPr txBox="1"/>
          <p:nvPr/>
        </p:nvSpPr>
        <p:spPr>
          <a:xfrm>
            <a:off x="1554480" y="3374136"/>
            <a:ext cx="2743200" cy="777240"/>
          </a:xfrm>
          <a:prstGeom prst="rect">
            <a:avLst/>
          </a:prstGeom>
          <a:noFill/>
          <a:ln/>
        </p:spPr>
        <p:txBody>
          <a:bodyPr wrap="square" lIns="0" tIns="0" rIns="0" bIns="0" rtlCol="0" anchor="t"/>
          <a:lstStyle/>
          <a:p>
            <a:pPr indent="0" marL="0">
              <a:buNone/>
            </a:pPr>
            <a:r>
              <a:rPr lang="en-US" sz="1300" dirty="0">
                <a:solidFill>
                  <a:schemeClr val="bg1"/>
                </a:solidFill>
              </a:rPr>
              <a:t>Strict supplier audits; halal certification in Saudi Arabia</a:t>
            </a:r>
            <a:endParaRPr lang="en-US" sz="1300" dirty="0"/>
          </a:p>
        </p:txBody>
      </p:sp>
      <p:sp>
        <p:nvSpPr>
          <p:cNvPr id="18" name="Operations card"/>
          <p:cNvSpPr/>
          <p:nvPr/>
        </p:nvSpPr>
        <p:spPr>
          <a:xfrm>
            <a:off x="4663440" y="2788920"/>
            <a:ext cx="4023360" cy="1508760"/>
          </a:xfrm>
          <a:prstGeom prst="roundRect">
            <a:avLst>
              <a:gd name="adj" fmla="val 7273"/>
            </a:avLst>
          </a:prstGeom>
          <a:solidFill>
            <a:schemeClr val="tx2"/>
          </a:solidFill>
          <a:ln w="12700">
            <a:solidFill>
              <a:schemeClr val="tx2"/>
            </a:solidFill>
            <a:prstDash val="solid"/>
          </a:ln>
        </p:spPr>
      </p:sp>
      <p:sp>
        <p:nvSpPr>
          <p:cNvPr id="19" name="Icon circle"/>
          <p:cNvSpPr/>
          <p:nvPr/>
        </p:nvSpPr>
        <p:spPr>
          <a:xfrm>
            <a:off x="4892040" y="3218688"/>
            <a:ext cx="640080" cy="640080"/>
          </a:xfrm>
          <a:prstGeom prst="ellipse">
            <a:avLst/>
          </a:prstGeom>
          <a:solidFill>
            <a:schemeClr val="accent1"/>
          </a:solidFill>
          <a:ln w="12700">
            <a:solidFill>
              <a:schemeClr val="accent1"/>
            </a:solidFill>
            <a:prstDash val="solid"/>
          </a:ln>
        </p:spPr>
      </p:sp>
      <p:pic>
        <p:nvPicPr>
          <p:cNvPr id="20" name="Icon" descr="preencoded.png">    </p:cNvPr>
          <p:cNvPicPr>
            <a:picLocks noChangeAspect="1"/>
          </p:cNvPicPr>
          <p:nvPr/>
        </p:nvPicPr>
        <p:blipFill>
          <a:blip r:embed="rId4"/>
          <a:stretch>
            <a:fillRect/>
          </a:stretch>
        </p:blipFill>
        <p:spPr>
          <a:xfrm>
            <a:off x="5032858" y="3359506"/>
            <a:ext cx="358445" cy="358445"/>
          </a:xfrm>
          <a:prstGeom prst="rect">
            <a:avLst/>
          </a:prstGeom>
        </p:spPr>
      </p:pic>
      <p:sp>
        <p:nvSpPr>
          <p:cNvPr id="21" name="Text 15"/>
          <p:cNvSpPr txBox="1"/>
          <p:nvPr/>
        </p:nvSpPr>
        <p:spPr>
          <a:xfrm>
            <a:off x="5760720" y="2990088"/>
            <a:ext cx="2743200" cy="365760"/>
          </a:xfrm>
          <a:prstGeom prst="rect">
            <a:avLst/>
          </a:prstGeom>
          <a:noFill/>
          <a:ln/>
        </p:spPr>
        <p:txBody>
          <a:bodyPr wrap="square" lIns="0" tIns="0" rIns="0" bIns="0" rtlCol="0" anchor="ctr"/>
          <a:lstStyle/>
          <a:p>
            <a:pPr indent="0" marL="0">
              <a:buNone/>
            </a:pPr>
            <a:r>
              <a:rPr lang="en-US" sz="1600" b="1" dirty="0">
                <a:solidFill>
                  <a:schemeClr val="accent1"/>
                </a:solidFill>
              </a:rPr>
              <a:t>Local rules</a:t>
            </a:r>
            <a:endParaRPr lang="en-US" sz="1600" dirty="0"/>
          </a:p>
        </p:txBody>
      </p:sp>
      <p:sp>
        <p:nvSpPr>
          <p:cNvPr id="22" name="Text 16"/>
          <p:cNvSpPr txBox="1"/>
          <p:nvPr/>
        </p:nvSpPr>
        <p:spPr>
          <a:xfrm>
            <a:off x="5760720" y="3374136"/>
            <a:ext cx="2743200" cy="777240"/>
          </a:xfrm>
          <a:prstGeom prst="rect">
            <a:avLst/>
          </a:prstGeom>
          <a:noFill/>
          <a:ln/>
        </p:spPr>
        <p:txBody>
          <a:bodyPr wrap="square" lIns="0" tIns="0" rIns="0" bIns="0" rtlCol="0" anchor="t"/>
          <a:lstStyle/>
          <a:p>
            <a:pPr indent="0" marL="0">
              <a:buNone/>
            </a:pPr>
            <a:r>
              <a:rPr lang="en-US" sz="1300" dirty="0">
                <a:solidFill>
                  <a:schemeClr val="bg1"/>
                </a:solidFill>
              </a:rPr>
              <a:t>France: reusable dine-in tableware (2023). Saudi Arabia: Saudization hiring quotas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accent1"/>
                </a:solidFill>
              </a:rPr>
              <a:t>The Final Bite</a:t>
            </a:r>
            <a:endParaRPr lang="en-US" sz="3000" dirty="0"/>
          </a:p>
        </p:txBody>
      </p:sp>
      <p:sp>
        <p:nvSpPr>
          <p:cNvPr id="3" name="Number"/>
          <p:cNvSpPr/>
          <p:nvPr/>
        </p:nvSpPr>
        <p:spPr>
          <a:xfrm>
            <a:off x="457200" y="109728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457200" y="10972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5" name="Text 3"/>
          <p:cNvSpPr txBox="1"/>
          <p:nvPr/>
        </p:nvSpPr>
        <p:spPr>
          <a:xfrm>
            <a:off x="1097280" y="1051560"/>
            <a:ext cx="4572000" cy="685800"/>
          </a:xfrm>
          <a:prstGeom prst="rect">
            <a:avLst/>
          </a:prstGeom>
          <a:noFill/>
          <a:ln/>
        </p:spPr>
        <p:txBody>
          <a:bodyPr wrap="square" lIns="0" tIns="0" rIns="0" bIns="0" rtlCol="0" anchor="t"/>
          <a:lstStyle/>
          <a:p>
            <a:pPr indent="0" marL="0">
              <a:buNone/>
            </a:pPr>
            <a:r>
              <a:rPr lang="en-US" sz="1400" b="1" dirty="0">
                <a:solidFill>
                  <a:schemeClr val="accent1"/>
                </a:solidFill>
              </a:rPr>
              <a:t>One global system</a:t>
            </a:r>
            <a:endParaRPr lang="en-US" sz="1400" dirty="0"/>
          </a:p>
          <a:p>
            <a:pPr indent="0" marL="0">
              <a:buNone/>
            </a:pPr>
            <a:r>
              <a:rPr lang="en-US" sz="1400" dirty="0">
                <a:solidFill>
                  <a:schemeClr val="bg1"/>
                </a:solidFill>
              </a:rPr>
              <a:t>Same brand, standards and core menu everywhere</a:t>
            </a:r>
            <a:endParaRPr lang="en-US" sz="1400" dirty="0"/>
          </a:p>
        </p:txBody>
      </p:sp>
      <p:sp>
        <p:nvSpPr>
          <p:cNvPr id="6" name="Number"/>
          <p:cNvSpPr/>
          <p:nvPr/>
        </p:nvSpPr>
        <p:spPr>
          <a:xfrm>
            <a:off x="457200" y="187452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457200" y="18745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8" name="Text 6"/>
          <p:cNvSpPr txBox="1"/>
          <p:nvPr/>
        </p:nvSpPr>
        <p:spPr>
          <a:xfrm>
            <a:off x="1097280" y="1828800"/>
            <a:ext cx="4572000" cy="685800"/>
          </a:xfrm>
          <a:prstGeom prst="rect">
            <a:avLst/>
          </a:prstGeom>
          <a:noFill/>
          <a:ln/>
        </p:spPr>
        <p:txBody>
          <a:bodyPr wrap="square" lIns="0" tIns="0" rIns="0" bIns="0" rtlCol="0" anchor="t"/>
          <a:lstStyle/>
          <a:p>
            <a:pPr indent="0" marL="0">
              <a:buNone/>
            </a:pPr>
            <a:r>
              <a:rPr lang="en-US" sz="1400" b="1" dirty="0">
                <a:solidFill>
                  <a:schemeClr val="accent1"/>
                </a:solidFill>
              </a:rPr>
              <a:t>Two entry models</a:t>
            </a:r>
            <a:endParaRPr lang="en-US" sz="1400" dirty="0"/>
          </a:p>
          <a:p>
            <a:pPr indent="0" marL="0">
              <a:buNone/>
            </a:pPr>
            <a:r>
              <a:rPr lang="en-US" sz="1400" dirty="0">
                <a:solidFill>
                  <a:schemeClr val="bg1"/>
                </a:solidFill>
              </a:rPr>
              <a:t>Franchising in mature France; licensed partners in fast-growing Saudi Arabia</a:t>
            </a:r>
            <a:endParaRPr lang="en-US" sz="1400" dirty="0"/>
          </a:p>
        </p:txBody>
      </p:sp>
      <p:sp>
        <p:nvSpPr>
          <p:cNvPr id="9" name="Number"/>
          <p:cNvSpPr/>
          <p:nvPr/>
        </p:nvSpPr>
        <p:spPr>
          <a:xfrm>
            <a:off x="457200" y="265176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457200" y="26517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1" name="Text 9"/>
          <p:cNvSpPr txBox="1"/>
          <p:nvPr/>
        </p:nvSpPr>
        <p:spPr>
          <a:xfrm>
            <a:off x="1097280" y="2606040"/>
            <a:ext cx="4572000" cy="685800"/>
          </a:xfrm>
          <a:prstGeom prst="rect">
            <a:avLst/>
          </a:prstGeom>
          <a:noFill/>
          <a:ln/>
        </p:spPr>
        <p:txBody>
          <a:bodyPr wrap="square" lIns="0" tIns="0" rIns="0" bIns="0" rtlCol="0" anchor="t"/>
          <a:lstStyle/>
          <a:p>
            <a:pPr indent="0" marL="0">
              <a:buNone/>
            </a:pPr>
            <a:r>
              <a:rPr lang="en-US" sz="1400" b="1" dirty="0">
                <a:solidFill>
                  <a:schemeClr val="accent1"/>
                </a:solidFill>
              </a:rPr>
              <a:t>Local adaptation</a:t>
            </a:r>
            <a:endParaRPr lang="en-US" sz="1400" dirty="0"/>
          </a:p>
          <a:p>
            <a:pPr indent="0" marL="0">
              <a:buNone/>
            </a:pPr>
            <a:r>
              <a:rPr lang="en-US" sz="1400" dirty="0">
                <a:solidFill>
                  <a:schemeClr val="bg1"/>
                </a:solidFill>
              </a:rPr>
              <a:t>French ingredients and culture; halal, family dining and Ramadan</a:t>
            </a:r>
            <a:endParaRPr lang="en-US" sz="1400" dirty="0"/>
          </a:p>
        </p:txBody>
      </p:sp>
      <p:sp>
        <p:nvSpPr>
          <p:cNvPr id="12" name="Number"/>
          <p:cNvSpPr/>
          <p:nvPr/>
        </p:nvSpPr>
        <p:spPr>
          <a:xfrm>
            <a:off x="457200" y="342900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457200" y="34290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4" name="Text 12"/>
          <p:cNvSpPr txBox="1"/>
          <p:nvPr/>
        </p:nvSpPr>
        <p:spPr>
          <a:xfrm>
            <a:off x="1097280" y="3383280"/>
            <a:ext cx="4572000" cy="685800"/>
          </a:xfrm>
          <a:prstGeom prst="rect">
            <a:avLst/>
          </a:prstGeom>
          <a:noFill/>
          <a:ln/>
        </p:spPr>
        <p:txBody>
          <a:bodyPr wrap="square" lIns="0" tIns="0" rIns="0" bIns="0" rtlCol="0" anchor="t"/>
          <a:lstStyle/>
          <a:p>
            <a:pPr indent="0" marL="0">
              <a:buNone/>
            </a:pPr>
            <a:r>
              <a:rPr lang="en-US" sz="1400" b="1" dirty="0">
                <a:solidFill>
                  <a:schemeClr val="accent1"/>
                </a:solidFill>
              </a:rPr>
              <a:t>Supply chain makes it work</a:t>
            </a:r>
            <a:endParaRPr lang="en-US" sz="1400" dirty="0"/>
          </a:p>
          <a:p>
            <a:pPr indent="0" marL="0">
              <a:buNone/>
            </a:pPr>
            <a:r>
              <a:rPr lang="en-US" sz="1400" dirty="0">
                <a:solidFill>
                  <a:schemeClr val="bg1"/>
                </a:solidFill>
              </a:rPr>
              <a:t>Efficient push upstream, responsive pull in the restaurant</a:t>
            </a:r>
            <a:endParaRPr lang="en-US" sz="1400" dirty="0"/>
          </a:p>
        </p:txBody>
      </p:sp>
      <p:pic>
        <p:nvPicPr>
          <p:cNvPr id="15" name="Burger illustration" descr="/tmp/claude-0/-home-user-Odeam/2d716dfa-dede-5887-a88c-08b62616e64c/scratchpad/build/burger.jpg">    </p:cNvPr>
          <p:cNvPicPr>
            <a:picLocks noChangeAspect="1"/>
          </p:cNvPicPr>
          <p:nvPr/>
        </p:nvPicPr>
        <p:blipFill>
          <a:blip r:embed="rId1"/>
          <a:stretch>
            <a:fillRect/>
          </a:stretch>
        </p:blipFill>
        <p:spPr>
          <a:xfrm>
            <a:off x="5943600" y="1188720"/>
            <a:ext cx="2743200" cy="2227385"/>
          </a:xfrm>
          <a:prstGeom prst="rect">
            <a:avLst/>
          </a:prstGeom>
        </p:spPr>
      </p:pic>
      <p:sp>
        <p:nvSpPr>
          <p:cNvPr id="16" name="Text 13"/>
          <p:cNvSpPr txBox="1"/>
          <p:nvPr/>
        </p:nvSpPr>
        <p:spPr>
          <a:xfrm>
            <a:off x="5760720" y="3611880"/>
            <a:ext cx="3017520" cy="640080"/>
          </a:xfrm>
          <a:prstGeom prst="rect">
            <a:avLst/>
          </a:prstGeom>
          <a:noFill/>
          <a:ln/>
        </p:spPr>
        <p:txBody>
          <a:bodyPr wrap="square" lIns="0" tIns="0" rIns="0" bIns="0" rtlCol="0" anchor="ctr"/>
          <a:lstStyle/>
          <a:p>
            <a:pPr algn="ctr" indent="0" marL="0">
              <a:buNone/>
            </a:pPr>
            <a:r>
              <a:rPr lang="en-US" sz="1600" i="1" dirty="0">
                <a:solidFill>
                  <a:schemeClr val="accent1"/>
                </a:solidFill>
                <a:latin typeface="Cambria" pitchFamily="34" charset="0"/>
                <a:ea typeface="Cambria" pitchFamily="34" charset="-122"/>
                <a:cs typeface="Cambria" pitchFamily="34" charset="-120"/>
              </a:rPr>
              <a:t>Same Golden Arches, different recipes for success.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chemeClr val="accent1"/>
                </a:solidFill>
              </a:rPr>
              <a:t>References</a:t>
            </a:r>
            <a:endParaRPr lang="en-US" sz="3000" dirty="0"/>
          </a:p>
        </p:txBody>
      </p:sp>
      <p:sp>
        <p:nvSpPr>
          <p:cNvPr id="3" name="Text 1"/>
          <p:cNvSpPr txBox="1"/>
          <p:nvPr/>
        </p:nvSpPr>
        <p:spPr>
          <a:xfrm>
            <a:off x="457200" y="1051560"/>
            <a:ext cx="8229600" cy="347472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400" dirty="0">
                <a:solidFill>
                  <a:schemeClr val="bg1"/>
                </a:solidFill>
              </a:rPr>
              <a:t>McDonald's Corporation, Annual Report / Form 10-K (latest year)</a:t>
            </a:r>
            <a:endParaRPr lang="en-US" sz="1400" dirty="0"/>
          </a:p>
          <a:p>
            <a:pPr marL="342900" indent="-342900">
              <a:spcAft>
                <a:spcPts val="400"/>
              </a:spcAft>
              <a:buSzPct val="100000"/>
              <a:buFont typeface="+mj-lt"/>
              <a:buAutoNum type="arabicPeriod" startAt="1"/>
            </a:pPr>
            <a:r>
              <a:rPr lang="en-US" sz="1400" dirty="0">
                <a:solidFill>
                  <a:schemeClr val="bg1"/>
                </a:solidFill>
              </a:rPr>
              <a:t>McDonald's Corporation, Our Purpose &amp; Impact (corporate.mcdonalds.com)</a:t>
            </a:r>
            <a:endParaRPr lang="en-US" sz="1400" dirty="0"/>
          </a:p>
          <a:p>
            <a:pPr marL="342900" indent="-342900">
              <a:spcAft>
                <a:spcPts val="400"/>
              </a:spcAft>
              <a:buSzPct val="100000"/>
              <a:buFont typeface="+mj-lt"/>
              <a:buAutoNum type="arabicPeriod" startAt="1"/>
            </a:pPr>
            <a:r>
              <a:rPr lang="en-US" sz="1400" dirty="0">
                <a:solidFill>
                  <a:schemeClr val="bg1"/>
                </a:solidFill>
              </a:rPr>
              <a:t>McDonald's France, corporate site and impact reports (mcdonalds.fr)</a:t>
            </a:r>
            <a:endParaRPr lang="en-US" sz="1400" dirty="0"/>
          </a:p>
          <a:p>
            <a:pPr marL="342900" indent="-342900">
              <a:spcAft>
                <a:spcPts val="400"/>
              </a:spcAft>
              <a:buSzPct val="100000"/>
              <a:buFont typeface="+mj-lt"/>
              <a:buAutoNum type="arabicPeriod" startAt="1"/>
            </a:pPr>
            <a:r>
              <a:rPr lang="en-US" sz="1400" dirty="0">
                <a:solidFill>
                  <a:schemeClr val="bg1"/>
                </a:solidFill>
              </a:rPr>
              <a:t>McDonald's Saudi Arabia, licensee corporate sites (mcdonalds.com.sa)</a:t>
            </a:r>
            <a:endParaRPr lang="en-US" sz="1400" dirty="0"/>
          </a:p>
          <a:p>
            <a:pPr marL="342900" indent="-342900">
              <a:spcAft>
                <a:spcPts val="400"/>
              </a:spcAft>
              <a:buSzPct val="100000"/>
              <a:buFont typeface="+mj-lt"/>
              <a:buAutoNum type="arabicPeriod" startAt="1"/>
            </a:pPr>
            <a:r>
              <a:rPr lang="en-US" sz="1400" dirty="0">
                <a:solidFill>
                  <a:schemeClr val="bg1"/>
                </a:solidFill>
              </a:rPr>
              <a:t>Saudi Food and Drug Authority (SFDA), halal requirements (sfda.gov.sa)</a:t>
            </a:r>
            <a:endParaRPr lang="en-US" sz="1400" dirty="0"/>
          </a:p>
          <a:p>
            <a:pPr marL="342900" indent="-342900">
              <a:spcAft>
                <a:spcPts val="400"/>
              </a:spcAft>
              <a:buSzPct val="100000"/>
              <a:buFont typeface="+mj-lt"/>
              <a:buAutoNum type="arabicPeriod" startAt="1"/>
            </a:pPr>
            <a:r>
              <a:rPr lang="en-US" sz="1400" dirty="0">
                <a:solidFill>
                  <a:schemeClr val="bg1"/>
                </a:solidFill>
              </a:rPr>
              <a:t>French Ministry of Ecological Transition, AGEC anti-waste law</a:t>
            </a:r>
            <a:endParaRPr lang="en-US" sz="1400" dirty="0"/>
          </a:p>
          <a:p>
            <a:pPr marL="342900" indent="-342900">
              <a:spcAft>
                <a:spcPts val="400"/>
              </a:spcAft>
              <a:buSzPct val="100000"/>
              <a:buFont typeface="+mj-lt"/>
              <a:buAutoNum type="arabicPeriod" startAt="1"/>
            </a:pPr>
            <a:r>
              <a:rPr lang="en-US" sz="1400" dirty="0">
                <a:solidFill>
                  <a:schemeClr val="bg1"/>
                </a:solidFill>
              </a:rPr>
              <a:t>Chopra, S. and Meindl, P., Supply Chain Management: Strategy, Planning, and Operation, Pearson</a:t>
            </a:r>
            <a:endParaRPr lang="en-US" sz="1400" dirty="0"/>
          </a:p>
          <a:p>
            <a:pPr marL="342900" indent="-342900">
              <a:spcAft>
                <a:spcPts val="400"/>
              </a:spcAft>
              <a:buSzPct val="100000"/>
              <a:buFont typeface="+mj-lt"/>
              <a:buAutoNum type="arabicPeriod" startAt="1"/>
            </a:pPr>
            <a:r>
              <a:rPr lang="en-US" sz="1400" dirty="0">
                <a:solidFill>
                  <a:schemeClr val="bg1"/>
                </a:solidFill>
              </a:rPr>
              <a:t>Bartlett, C. and Ghoshal, S., Managing Across Borders</a:t>
            </a:r>
            <a:endParaRPr lang="en-US" sz="1400" dirty="0"/>
          </a:p>
          <a:p>
            <a:pPr marL="342900" indent="-342900">
              <a:spcAft>
                <a:spcPts val="400"/>
              </a:spcAft>
              <a:buSzPct val="100000"/>
              <a:buFont typeface="+mj-lt"/>
              <a:buAutoNum type="arabicPeriod" startAt="1"/>
            </a:pPr>
            <a:r>
              <a:rPr lang="en-US" sz="1400" dirty="0">
                <a:solidFill>
                  <a:schemeClr val="bg1"/>
                </a:solidFill>
              </a:rPr>
              <a:t>Porter, M., Competitive Strategy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Golden Arches">
  <a:themeElements>
    <a:clrScheme name="Golden Arches">
      <a:dk1>
        <a:srgbClr val="5B120C"/>
      </a:dk1>
      <a:lt1>
        <a:srgbClr val="FFFFFF"/>
      </a:lt1>
      <a:dk2>
        <a:srgbClr val="74241B"/>
      </a:dk2>
      <a:lt2>
        <a:srgbClr val="F3E3C3"/>
      </a:lt2>
      <a:accent1>
        <a:srgbClr val="FFC72C"/>
      </a:accent1>
      <a:accent2>
        <a:srgbClr val="D97757"/>
      </a:accent2>
      <a:accent3>
        <a:srgbClr val="DA291C"/>
      </a:accent3>
      <a:accent4>
        <a:srgbClr val="2E7D32"/>
      </a:accent4>
      <a:accent5>
        <a:srgbClr val="1F4E9C"/>
      </a:accent5>
      <a:accent6>
        <a:srgbClr val="8A3A2E"/>
      </a:accent6>
      <a:hlink>
        <a:srgbClr val="FFC72C"/>
      </a:hlink>
      <a:folHlink>
        <a:srgbClr val="D97757"/>
      </a:folHlink>
    </a:clrScheme>
    <a:fontScheme name="Golden Arch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McDonald's: France vs Saudi Arabia</dc:title>
  <dc:subject>PptxGenJS Presentation</dc:subject>
  <dc:creator>Adrianna Saro, Aleena Merin Thomas, Precious Jewel</dc:creator>
  <cp:lastModifiedBy>Adrianna Saro, Aleena Merin Thomas, Precious Jewel</cp:lastModifiedBy>
  <cp:revision>1</cp:revision>
  <dcterms:created xsi:type="dcterms:W3CDTF">2026-10-21T05:05:47Z</dcterms:created>
  <dcterms:modified xsi:type="dcterms:W3CDTF">2026-10-21T05:05:47Z</dcterms:modified>
</cp:coreProperties>
</file>